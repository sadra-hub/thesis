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20"/>
  </p:notesMasterIdLst>
  <p:sldIdLst>
    <p:sldId id="268" r:id="rId11"/>
    <p:sldId id="282" r:id="rId12"/>
    <p:sldId id="288" r:id="rId13"/>
    <p:sldId id="289" r:id="rId14"/>
    <p:sldId id="283" r:id="rId15"/>
    <p:sldId id="286" r:id="rId16"/>
    <p:sldId id="287" r:id="rId17"/>
    <p:sldId id="284" r:id="rId18"/>
    <p:sldId id="270" r:id="rId19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E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84" autoAdjust="0"/>
    <p:restoredTop sz="96433" autoAdjust="0"/>
  </p:normalViewPr>
  <p:slideViewPr>
    <p:cSldViewPr snapToGrid="0" showGuides="1">
      <p:cViewPr varScale="1">
        <p:scale>
          <a:sx n="111" d="100"/>
          <a:sy n="111" d="100"/>
        </p:scale>
        <p:origin x="216" y="600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2 February 2026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6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D67E-83A6-E8CB-4B12-A7AAFFFF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E0D2-4B65-3A17-DBF5-B04DF4DBE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MBSE adoption experiences in organizations: Lessons learned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Model-based systems engineering: Motivation, current status, and research opportunities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IEEE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 Healthcare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3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EBAE-89F7-197C-1145-6B45A905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518710"/>
            <a:ext cx="7556500" cy="1113319"/>
          </a:xfrm>
        </p:spPr>
        <p:txBody>
          <a:bodyPr/>
          <a:lstStyle/>
          <a:p>
            <a:r>
              <a:rPr lang="en-US" dirty="0"/>
              <a:t>In 2013 NAVAIR Asked:</a:t>
            </a:r>
            <a:br>
              <a:rPr lang="en-US" dirty="0"/>
            </a:br>
            <a:r>
              <a:rPr lang="en-US" dirty="0"/>
              <a:t>the most advanced and holistic approach to MCE you use or have seen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5BDF-42B2-58A8-438A-B11206720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794077"/>
            <a:ext cx="7556501" cy="242311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Model-based engineering (MBE),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 Centric Engineering (MCE),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Integrated model-centric engineering (IMCE),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Interactive model-centric systems engineering (IMCSE),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Model-driven development (MDD),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Model-driven engineering (MDE),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Model-based enterprise (MBE)</a:t>
            </a:r>
          </a:p>
        </p:txBody>
      </p:sp>
    </p:spTree>
    <p:extLst>
      <p:ext uri="{BB962C8B-B14F-4D97-AF65-F5344CB8AC3E}">
        <p14:creationId xmlns:p14="http://schemas.microsoft.com/office/powerpoint/2010/main" val="12352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7FC69-20A3-2237-1E63-CE53AD9F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DoDs Digital Engineering 5 Strategic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A4BA-3765-C317-872C-B4CF70D81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Formalize development, integration, and use of models to inform enterprise and program decision making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Provide an enduring, authoritative source of truth (</a:t>
            </a:r>
            <a:r>
              <a:rPr lang="en-US" dirty="0" err="1"/>
              <a:t>ASoT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Incorporate technological innovation to improve the engineering practice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Establish a supporting infrastructure and environments to perform activities and communicate across stakeholders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Transform the culture and workforce to adopt and support digital engineering across the lifecycle</a:t>
            </a:r>
          </a:p>
        </p:txBody>
      </p:sp>
    </p:spTree>
    <p:extLst>
      <p:ext uri="{BB962C8B-B14F-4D97-AF65-F5344CB8AC3E}">
        <p14:creationId xmlns:p14="http://schemas.microsoft.com/office/powerpoint/2010/main" val="335570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895-FEE6-5531-C5A8-DD6ABFE8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MBSE in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ECCE9-819F-1D7A-626A-2FE238EBF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Adoption is accelerating</a:t>
            </a:r>
          </a:p>
          <a:p>
            <a:pPr marL="882650" lvl="4" indent="-342900"/>
            <a:r>
              <a:rPr lang="en-US" dirty="0"/>
              <a:t>Most used languages: SysML (most common), then UML, plus a few others (e.g., BPMN, OPM, RAAML) </a:t>
            </a:r>
          </a:p>
          <a:p>
            <a:pPr marL="882650" lvl="4" indent="-342900"/>
            <a:r>
              <a:rPr lang="en-US" dirty="0"/>
              <a:t>SysML popularity reason (practical):</a:t>
            </a:r>
          </a:p>
          <a:p>
            <a:pPr marL="882650" lvl="4" indent="-342900"/>
            <a:r>
              <a:rPr lang="en-US" dirty="0"/>
              <a:t>Requirement diagrams → traceability</a:t>
            </a:r>
          </a:p>
          <a:p>
            <a:pPr marL="882650" lvl="4" indent="-342900"/>
            <a:r>
              <a:rPr lang="en-US" dirty="0"/>
              <a:t>Parametric diagrams → quantitative trade-offs (cost/quality/constraints)  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MBSE is often </a:t>
            </a:r>
            <a:r>
              <a:rPr lang="en-US" dirty="0">
                <a:highlight>
                  <a:srgbClr val="FFFF00"/>
                </a:highlight>
              </a:rPr>
              <a:t>combined with analytics </a:t>
            </a:r>
            <a:r>
              <a:rPr lang="en-US" dirty="0"/>
              <a:t>like: Simulation, co-simulation, and hybrid simulation (DES is most common)</a:t>
            </a:r>
          </a:p>
        </p:txBody>
      </p:sp>
    </p:spTree>
    <p:extLst>
      <p:ext uri="{BB962C8B-B14F-4D97-AF65-F5344CB8AC3E}">
        <p14:creationId xmlns:p14="http://schemas.microsoft.com/office/powerpoint/2010/main" val="271091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Inpatient with solid fill">
            <a:extLst>
              <a:ext uri="{FF2B5EF4-FFF2-40B4-BE49-F238E27FC236}">
                <a16:creationId xmlns:a16="http://schemas.microsoft.com/office/drawing/2014/main" id="{E9B60D3B-F435-EC9B-EC4A-AC1F3B45C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362" y="673863"/>
            <a:ext cx="2448046" cy="2448046"/>
          </a:xfrm>
          <a:prstGeom prst="rect">
            <a:avLst/>
          </a:prstGeom>
        </p:spPr>
      </p:pic>
      <p:pic>
        <p:nvPicPr>
          <p:cNvPr id="9" name="Graphic 8" descr="Clipboard outline">
            <a:extLst>
              <a:ext uri="{FF2B5EF4-FFF2-40B4-BE49-F238E27FC236}">
                <a16:creationId xmlns:a16="http://schemas.microsoft.com/office/drawing/2014/main" id="{940584AB-97B4-EC85-7C82-6FFE1D1CE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0930" y="425202"/>
            <a:ext cx="914400" cy="914400"/>
          </a:xfrm>
          <a:prstGeom prst="rect">
            <a:avLst/>
          </a:prstGeom>
        </p:spPr>
      </p:pic>
      <p:pic>
        <p:nvPicPr>
          <p:cNvPr id="13" name="Graphic 12" descr="Stream outline">
            <a:extLst>
              <a:ext uri="{FF2B5EF4-FFF2-40B4-BE49-F238E27FC236}">
                <a16:creationId xmlns:a16="http://schemas.microsoft.com/office/drawing/2014/main" id="{B207F830-854A-33FD-1D42-BE51E405BC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64771" y="1229384"/>
            <a:ext cx="761445" cy="761445"/>
          </a:xfrm>
          <a:prstGeom prst="rect">
            <a:avLst/>
          </a:prstGeom>
        </p:spPr>
      </p:pic>
      <p:pic>
        <p:nvPicPr>
          <p:cNvPr id="15" name="Graphic 14" descr="Test tubes outline">
            <a:extLst>
              <a:ext uri="{FF2B5EF4-FFF2-40B4-BE49-F238E27FC236}">
                <a16:creationId xmlns:a16="http://schemas.microsoft.com/office/drawing/2014/main" id="{658F215E-9AEE-3DB5-4559-76864CA25A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6147" y="384819"/>
            <a:ext cx="761446" cy="761446"/>
          </a:xfrm>
          <a:prstGeom prst="rect">
            <a:avLst/>
          </a:prstGeom>
        </p:spPr>
      </p:pic>
      <p:pic>
        <p:nvPicPr>
          <p:cNvPr id="17" name="Graphic 16" descr="Server outline">
            <a:extLst>
              <a:ext uri="{FF2B5EF4-FFF2-40B4-BE49-F238E27FC236}">
                <a16:creationId xmlns:a16="http://schemas.microsoft.com/office/drawing/2014/main" id="{D90207D8-726E-9677-38A6-9A8700652B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4182" y="1185099"/>
            <a:ext cx="761446" cy="761446"/>
          </a:xfrm>
          <a:prstGeom prst="rect">
            <a:avLst/>
          </a:prstGeom>
        </p:spPr>
      </p:pic>
      <p:pic>
        <p:nvPicPr>
          <p:cNvPr id="19" name="Graphic 18" descr="Metronome outline">
            <a:extLst>
              <a:ext uri="{FF2B5EF4-FFF2-40B4-BE49-F238E27FC236}">
                <a16:creationId xmlns:a16="http://schemas.microsoft.com/office/drawing/2014/main" id="{256519D1-D155-75DD-6866-1CC0F5EF36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87237" y="549580"/>
            <a:ext cx="761446" cy="761446"/>
          </a:xfrm>
          <a:prstGeom prst="rect">
            <a:avLst/>
          </a:prstGeom>
        </p:spPr>
      </p:pic>
      <p:pic>
        <p:nvPicPr>
          <p:cNvPr id="21" name="Graphic 20" descr="Doctor male outline">
            <a:extLst>
              <a:ext uri="{FF2B5EF4-FFF2-40B4-BE49-F238E27FC236}">
                <a16:creationId xmlns:a16="http://schemas.microsoft.com/office/drawing/2014/main" id="{3F54CE76-9635-CB88-A669-4DD899AD5B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6211" y="975032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B5A559-19A3-C935-B5E6-75A1BCA70152}"/>
              </a:ext>
            </a:extLst>
          </p:cNvPr>
          <p:cNvSpPr txBox="1"/>
          <p:nvPr/>
        </p:nvSpPr>
        <p:spPr>
          <a:xfrm>
            <a:off x="453726" y="1990830"/>
            <a:ext cx="206069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Descriptive Models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Medical History</a:t>
            </a:r>
          </a:p>
          <a:p>
            <a:pPr algn="ctr"/>
            <a:r>
              <a:rPr lang="en-US" dirty="0"/>
              <a:t>Complaints &amp; Symptoms</a:t>
            </a:r>
          </a:p>
          <a:p>
            <a:pPr algn="ctr"/>
            <a:r>
              <a:rPr lang="en-US" dirty="0"/>
              <a:t>Etc.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9DC558-E6F8-0764-8BA4-72DA9EE0FF62}"/>
              </a:ext>
            </a:extLst>
          </p:cNvPr>
          <p:cNvSpPr txBox="1"/>
          <p:nvPr/>
        </p:nvSpPr>
        <p:spPr>
          <a:xfrm>
            <a:off x="6449133" y="2100691"/>
            <a:ext cx="215691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Analytical Models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Test Results</a:t>
            </a:r>
          </a:p>
          <a:p>
            <a:pPr algn="ctr"/>
            <a:r>
              <a:rPr lang="en-US" dirty="0"/>
              <a:t>Real time monitoring</a:t>
            </a:r>
          </a:p>
          <a:p>
            <a:pPr algn="ctr"/>
            <a:r>
              <a:rPr lang="en-US" dirty="0"/>
              <a:t>Etc.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D17527-F453-BB5A-0EDA-1C9F2924C882}"/>
              </a:ext>
            </a:extLst>
          </p:cNvPr>
          <p:cNvSpPr/>
          <p:nvPr/>
        </p:nvSpPr>
        <p:spPr>
          <a:xfrm>
            <a:off x="2737816" y="3121909"/>
            <a:ext cx="3487918" cy="11578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will happen if this patient, take X mg of Drug Y for Z weeks?</a:t>
            </a:r>
          </a:p>
        </p:txBody>
      </p:sp>
      <p:sp>
        <p:nvSpPr>
          <p:cNvPr id="25" name="Right Arrow Callout 24">
            <a:extLst>
              <a:ext uri="{FF2B5EF4-FFF2-40B4-BE49-F238E27FC236}">
                <a16:creationId xmlns:a16="http://schemas.microsoft.com/office/drawing/2014/main" id="{46D925D2-DD95-3AC4-5821-A6BA037779A3}"/>
              </a:ext>
            </a:extLst>
          </p:cNvPr>
          <p:cNvSpPr/>
          <p:nvPr/>
        </p:nvSpPr>
        <p:spPr>
          <a:xfrm>
            <a:off x="572039" y="276464"/>
            <a:ext cx="2475608" cy="2938075"/>
          </a:xfrm>
          <a:prstGeom prst="rightArrowCallout">
            <a:avLst>
              <a:gd name="adj1" fmla="val 16623"/>
              <a:gd name="adj2" fmla="val 15100"/>
              <a:gd name="adj3" fmla="val 14719"/>
              <a:gd name="adj4" fmla="val 75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Callout 25">
            <a:extLst>
              <a:ext uri="{FF2B5EF4-FFF2-40B4-BE49-F238E27FC236}">
                <a16:creationId xmlns:a16="http://schemas.microsoft.com/office/drawing/2014/main" id="{B78B7C65-71A8-7B14-BC7F-033FC64F72C1}"/>
              </a:ext>
            </a:extLst>
          </p:cNvPr>
          <p:cNvSpPr/>
          <p:nvPr/>
        </p:nvSpPr>
        <p:spPr>
          <a:xfrm flipH="1">
            <a:off x="5683052" y="314985"/>
            <a:ext cx="2880722" cy="2938075"/>
          </a:xfrm>
          <a:prstGeom prst="rightArrowCallout">
            <a:avLst>
              <a:gd name="adj1" fmla="val 14660"/>
              <a:gd name="adj2" fmla="val 12809"/>
              <a:gd name="adj3" fmla="val 14719"/>
              <a:gd name="adj4" fmla="val 75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9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ABCE-F876-DA38-7690-36CEA53F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Justification of MBSE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E3B2-E7BC-1F9C-45EE-B3D2D6A80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Global Decision Making (rather than greedy treatment plans which are dependent on historical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Greedy Treatment no longer works:</a:t>
            </a:r>
          </a:p>
          <a:p>
            <a:pPr marL="523875" lvl="2" indent="-342900"/>
            <a:r>
              <a:rPr lang="en-US" dirty="0"/>
              <a:t>New Challenges (conflicts, pandemic, mental health)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Information Sharing (e.g. Black box in aircrafts)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66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07D3-CD76-1BCE-1CB2-9B10F85B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MBSE is used </a:t>
            </a:r>
            <a:r>
              <a:rPr lang="en-US" sz="2000" dirty="0"/>
              <a:t>(and gaps)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C9464-8A7B-3F0D-D080-94EC1DAF7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IoT-enabled smart healthcare (largest cluster)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Clinical medicine (disease management, care models)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Medical device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Healthcare process improvement (e.g., ED flow, waiting times)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Facilities / hospital information systems (EHR/EMR, billing, BIM)  ￼</a:t>
            </a:r>
          </a:p>
          <a:p>
            <a:endParaRPr lang="en-US" b="1" dirty="0"/>
          </a:p>
          <a:p>
            <a:pPr>
              <a:spcAft>
                <a:spcPts val="600"/>
              </a:spcAft>
            </a:pPr>
            <a:r>
              <a:rPr lang="en-US" b="1" dirty="0"/>
              <a:t>Two research gaps: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Stronger integration with </a:t>
            </a:r>
            <a:r>
              <a:rPr lang="en-US" sz="1400" dirty="0">
                <a:highlight>
                  <a:srgbClr val="FFFF00"/>
                </a:highlight>
              </a:rPr>
              <a:t>data-driven methods </a:t>
            </a:r>
            <a:r>
              <a:rPr lang="en-US" sz="1400" dirty="0"/>
              <a:t>e.g., agent-based / hybrid simulation, AI/LLMs, digital twins for richer uncertainty + real-time support  ￼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Model the human-in-the-loop better Current models are often patient-centric but under-model clinicians’ cognitive work (decision-making, workload, burnout dynamics)  ￼</a:t>
            </a:r>
          </a:p>
        </p:txBody>
      </p:sp>
    </p:spTree>
    <p:extLst>
      <p:ext uri="{BB962C8B-B14F-4D97-AF65-F5344CB8AC3E}">
        <p14:creationId xmlns:p14="http://schemas.microsoft.com/office/powerpoint/2010/main" val="424909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9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9095741A-CCDF-4B58-ADBB-E7CDCD30ED42}">
  <ds:schemaRefs/>
</ds:datastoreItem>
</file>

<file path=customXml/itemProps2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customXml/itemProps3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B08C246-4216-47B9-B943-2D4F1A392C3F}">
  <ds:schemaRefs/>
</ds:datastoreItem>
</file>

<file path=customXml/itemProps5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400AE978-C982-4764-8B5A-A9725C7AA005}">
  <ds:schemaRefs/>
</ds:datastoreItem>
</file>

<file path=customXml/itemProps7.xml><?xml version="1.0" encoding="utf-8"?>
<ds:datastoreItem xmlns:ds="http://schemas.openxmlformats.org/officeDocument/2006/customXml" ds:itemID="{3CEDE958-A289-4F43-AB16-8D80F6812CD1}">
  <ds:schemaRefs/>
</ds:datastoreItem>
</file>

<file path=customXml/itemProps8.xml><?xml version="1.0" encoding="utf-8"?>
<ds:datastoreItem xmlns:ds="http://schemas.openxmlformats.org/officeDocument/2006/customXml" ds:itemID="{1E4E5DBF-1B01-4344-9330-851E2AF998FF}">
  <ds:schemaRefs/>
</ds:datastoreItem>
</file>

<file path=customXml/itemProps9.xml><?xml version="1.0" encoding="utf-8"?>
<ds:datastoreItem xmlns:ds="http://schemas.openxmlformats.org/officeDocument/2006/customXml" ds:itemID="{3363B716-1B3F-4EF4-A645-2849D6A2A1C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11378</TotalTime>
  <Words>427</Words>
  <Application>Microsoft Macintosh PowerPoint</Application>
  <PresentationFormat>On-screen Show (16:9)</PresentationFormat>
  <Paragraphs>54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Kantoorthema</vt:lpstr>
      <vt:lpstr>PowerPoint Presentation</vt:lpstr>
      <vt:lpstr>Paper Review</vt:lpstr>
      <vt:lpstr>In 2013 NAVAIR Asked: the most advanced and holistic approach to MCE you use or have seen used?</vt:lpstr>
      <vt:lpstr>DoDs Digital Engineering 5 Strategic Goals</vt:lpstr>
      <vt:lpstr>MBSE in Healthcare</vt:lpstr>
      <vt:lpstr>PowerPoint Presentation</vt:lpstr>
      <vt:lpstr>Justification of MBSE Healthcare</vt:lpstr>
      <vt:lpstr>Where MBSE is used (and gaps)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23</cp:revision>
  <dcterms:created xsi:type="dcterms:W3CDTF">2025-12-18T10:00:57Z</dcterms:created>
  <dcterms:modified xsi:type="dcterms:W3CDTF">2026-02-03T00:49:49Z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