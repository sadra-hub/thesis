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15"/>
  </p:notesMasterIdLst>
  <p:sldIdLst>
    <p:sldId id="268" r:id="rId11"/>
    <p:sldId id="291" r:id="rId12"/>
    <p:sldId id="292" r:id="rId13"/>
    <p:sldId id="270" r:id="rId14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3D3D3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68" autoAdjust="0"/>
    <p:restoredTop sz="96433" autoAdjust="0"/>
  </p:normalViewPr>
  <p:slideViewPr>
    <p:cSldViewPr snapToGrid="0" showGuides="1">
      <p:cViewPr>
        <p:scale>
          <a:sx n="129" d="100"/>
          <a:sy n="129" d="100"/>
        </p:scale>
        <p:origin x="-24" y="312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10" Type="http://schemas.openxmlformats.org/officeDocument/2006/relationships/slideMaster" Target="slideMasters/slideMaster1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23/03/2026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23 March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p15="http://schemas.microsoft.com/office/powerpoint/2012/main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5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FDA17-2BBE-D3F0-7001-5D69123BC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1"/>
            <a:ext cx="3415754" cy="539038"/>
          </a:xfrm>
        </p:spPr>
        <p:txBody>
          <a:bodyPr/>
          <a:lstStyle/>
          <a:p>
            <a:r>
              <a:rPr lang="en-US" sz="2400" dirty="0"/>
              <a:t>Understanding SysML V2</a:t>
            </a:r>
            <a:br>
              <a:rPr lang="en-US" dirty="0"/>
            </a:br>
            <a:r>
              <a:rPr lang="en-US" sz="2000" dirty="0"/>
              <a:t>Language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26640-C958-01CF-D10C-2230CD5B9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495703"/>
            <a:ext cx="4338071" cy="2604023"/>
          </a:xfrm>
        </p:spPr>
        <p:txBody>
          <a:bodyPr/>
          <a:lstStyle/>
          <a:p>
            <a:r>
              <a:rPr lang="en-US" dirty="0"/>
              <a:t>Main References: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Almeida, J. P. A., Ferreira Pires, L., Guizzardi, G., &amp; Wagner, G. (2024). </a:t>
            </a:r>
            <a:r>
              <a:rPr lang="en-US" sz="1400" b="1" dirty="0"/>
              <a:t>An analysis of the semantic foundation of KerML and SysML v2.</a:t>
            </a:r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Bajaj, M., Friedenthal, S., &amp; </a:t>
            </a:r>
            <a:r>
              <a:rPr lang="en-US" sz="1400" dirty="0" err="1"/>
              <a:t>Seidewitz</a:t>
            </a:r>
            <a:r>
              <a:rPr lang="en-US" sz="1400" dirty="0"/>
              <a:t>, E. (2022). </a:t>
            </a:r>
            <a:r>
              <a:rPr lang="en-US" sz="1400" b="1" dirty="0"/>
              <a:t>Systems Modeling Language (SysML v2) support for digital engineering.</a:t>
            </a:r>
            <a:r>
              <a:rPr lang="en-US" sz="1400" dirty="0"/>
              <a:t> </a:t>
            </a:r>
            <a:r>
              <a:rPr lang="en-US" sz="1400" i="1" dirty="0"/>
              <a:t>INCOSE Systems Engineering</a:t>
            </a:r>
            <a:r>
              <a:rPr lang="en-US" sz="1400" dirty="0"/>
              <a:t>, 25(1).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Object Management Group. (2024). </a:t>
            </a:r>
            <a:r>
              <a:rPr lang="en-US" sz="1400" b="1" dirty="0"/>
              <a:t>Systems Modeling Language (SysML®) v2 Specification.</a:t>
            </a:r>
            <a:r>
              <a:rPr lang="en-US" sz="1400" dirty="0"/>
              <a:t> Object Management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7D372-0D21-C243-7039-369682334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46" y="0"/>
            <a:ext cx="35931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7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un Kling 3.0 API (2)">
            <a:hlinkClick r:id="" action="ppaction://media"/>
            <a:extLst>
              <a:ext uri="{FF2B5EF4-FFF2-40B4-BE49-F238E27FC236}">
                <a16:creationId xmlns:a16="http://schemas.microsoft.com/office/drawing/2014/main" id="{C4A776C6-1DED-D5B9-47F7-06F380B98A2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630244" y="208344"/>
            <a:ext cx="2335796" cy="4188146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F69665-6921-9729-E259-008C35CEB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215" y="208344"/>
            <a:ext cx="2337570" cy="4188146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A56EA7B-1E7C-5A21-D1F2-A66E6CD69F38}"/>
              </a:ext>
            </a:extLst>
          </p:cNvPr>
          <p:cNvSpPr/>
          <p:nvPr/>
        </p:nvSpPr>
        <p:spPr>
          <a:xfrm>
            <a:off x="177960" y="208344"/>
            <a:ext cx="2337570" cy="4188146"/>
          </a:xfrm>
          <a:prstGeom prst="rect">
            <a:avLst/>
          </a:prstGeom>
          <a:solidFill>
            <a:srgbClr val="D3D3D3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 dirty="0">
                <a:solidFill>
                  <a:schemeClr val="tx1"/>
                </a:solidFill>
              </a:rPr>
              <a:t>package </a:t>
            </a:r>
            <a:r>
              <a:rPr lang="en-US" sz="600" dirty="0" err="1">
                <a:solidFill>
                  <a:schemeClr val="tx1"/>
                </a:solidFill>
              </a:rPr>
              <a:t>FlashlightSpecificationAndDesign</a:t>
            </a:r>
            <a:r>
              <a:rPr lang="en-US" sz="600" dirty="0">
                <a:solidFill>
                  <a:schemeClr val="tx1"/>
                </a:solidFill>
              </a:rPr>
              <a:t> 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</a:t>
            </a:r>
            <a:r>
              <a:rPr lang="en-US" sz="600" dirty="0" err="1">
                <a:solidFill>
                  <a:schemeClr val="tx1"/>
                </a:solidFill>
              </a:rPr>
              <a:t>ScalarValues</a:t>
            </a:r>
            <a:r>
              <a:rPr lang="en-US" sz="600" dirty="0">
                <a:solidFill>
                  <a:schemeClr val="tx1"/>
                </a:solidFill>
              </a:rPr>
              <a:t>::*;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SI::*;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public import </a:t>
            </a:r>
            <a:r>
              <a:rPr lang="en-US" sz="600" dirty="0" err="1">
                <a:solidFill>
                  <a:schemeClr val="tx1"/>
                </a:solidFill>
              </a:rPr>
              <a:t>USCustomaryUnits</a:t>
            </a:r>
            <a:r>
              <a:rPr lang="en-US" sz="600" dirty="0">
                <a:solidFill>
                  <a:schemeClr val="tx1"/>
                </a:solidFill>
              </a:rPr>
              <a:t>::*;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    // create a Requirements package that contains the hierarchy of requirements that compose the flashlight specification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package Requirements{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requirement </a:t>
            </a:r>
            <a:r>
              <a:rPr lang="en-US" sz="600" dirty="0" err="1">
                <a:solidFill>
                  <a:schemeClr val="tx1"/>
                </a:solidFill>
              </a:rPr>
              <a:t>flashlightSpecification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</a:t>
            </a:r>
            <a:r>
              <a:rPr lang="en-US" sz="600" dirty="0" err="1">
                <a:solidFill>
                  <a:schemeClr val="tx1"/>
                </a:solidFill>
              </a:rPr>
              <a:t>userInterface</a:t>
            </a:r>
            <a:r>
              <a:rPr lang="en-US" sz="600" dirty="0">
                <a:solidFill>
                  <a:schemeClr val="tx1"/>
                </a:solidFill>
              </a:rPr>
              <a:t>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illumination{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// the following is a simple text-based requirement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</a:t>
            </a:r>
            <a:r>
              <a:rPr lang="en-US" sz="600" dirty="0" err="1">
                <a:solidFill>
                  <a:schemeClr val="tx1"/>
                </a:solidFill>
              </a:rPr>
              <a:t>fieldOfView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flashlight field of view shall be 0 - 20 degrees.*/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</a:t>
            </a:r>
            <a:r>
              <a:rPr lang="en-US" sz="600" dirty="0" err="1">
                <a:solidFill>
                  <a:schemeClr val="tx1"/>
                </a:solidFill>
              </a:rPr>
              <a:t>lightPower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light power shall be a </a:t>
            </a:r>
            <a:r>
              <a:rPr lang="en-US" sz="600" dirty="0" err="1">
                <a:solidFill>
                  <a:schemeClr val="tx1"/>
                </a:solidFill>
              </a:rPr>
              <a:t>minumum</a:t>
            </a:r>
            <a:r>
              <a:rPr lang="en-US" sz="600" dirty="0">
                <a:solidFill>
                  <a:schemeClr val="tx1"/>
                </a:solidFill>
              </a:rPr>
              <a:t> of TBD lumens.*/          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physical{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portability;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size{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flashlight shall be less than 6 inches in length.*/  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// the following is a more precisely specified requirement using constraints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requirement weight{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doc /* The weight shall be less than 0.25 lbs.*/  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attribute </a:t>
            </a:r>
            <a:r>
              <a:rPr lang="en-US" sz="600" dirty="0" err="1">
                <a:solidFill>
                  <a:schemeClr val="tx1"/>
                </a:solidFill>
              </a:rPr>
              <a:t>actualWeight</a:t>
            </a:r>
            <a:r>
              <a:rPr lang="en-US" sz="600" dirty="0">
                <a:solidFill>
                  <a:schemeClr val="tx1"/>
                </a:solidFill>
              </a:rPr>
              <a:t> :&gt; ISQ::mass;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    require constraint {</a:t>
            </a:r>
            <a:r>
              <a:rPr lang="en-US" sz="600" dirty="0" err="1">
                <a:solidFill>
                  <a:schemeClr val="tx1"/>
                </a:solidFill>
              </a:rPr>
              <a:t>actualWeight</a:t>
            </a:r>
            <a:r>
              <a:rPr lang="en-US" sz="600" dirty="0">
                <a:solidFill>
                  <a:schemeClr val="tx1"/>
                </a:solidFill>
              </a:rPr>
              <a:t> &lt;= 0.25 [</a:t>
            </a:r>
            <a:r>
              <a:rPr lang="en-US" sz="600" dirty="0" err="1">
                <a:solidFill>
                  <a:schemeClr val="tx1"/>
                </a:solidFill>
              </a:rPr>
              <a:t>lb</a:t>
            </a:r>
            <a:r>
              <a:rPr lang="en-US" sz="600" dirty="0">
                <a:solidFill>
                  <a:schemeClr val="tx1"/>
                </a:solidFill>
              </a:rPr>
              <a:t>]}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reliability;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requirement cost;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}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}</a:t>
            </a:r>
          </a:p>
          <a:p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// create a package called </a:t>
            </a:r>
            <a:r>
              <a:rPr lang="en-US" sz="600" dirty="0" err="1">
                <a:solidFill>
                  <a:schemeClr val="tx1"/>
                </a:solidFill>
              </a:rPr>
              <a:t>ActionTree</a:t>
            </a:r>
            <a:r>
              <a:rPr lang="en-US" sz="600" dirty="0">
                <a:solidFill>
                  <a:schemeClr val="tx1"/>
                </a:solidFill>
              </a:rPr>
              <a:t> that contains the actions and flows to </a:t>
            </a:r>
            <a:r>
              <a:rPr lang="en-US" sz="600" dirty="0" err="1">
                <a:solidFill>
                  <a:schemeClr val="tx1"/>
                </a:solidFill>
              </a:rPr>
              <a:t>produceDirectedLight</a:t>
            </a:r>
            <a:endParaRPr lang="en-US" sz="600" dirty="0">
              <a:solidFill>
                <a:schemeClr val="tx1"/>
              </a:solidFill>
            </a:endParaRPr>
          </a:p>
          <a:p>
            <a:r>
              <a:rPr lang="en-US" sz="600" dirty="0">
                <a:solidFill>
                  <a:schemeClr val="tx1"/>
                </a:solidFill>
              </a:rPr>
              <a:t>    package </a:t>
            </a:r>
            <a:r>
              <a:rPr lang="en-US" sz="600" dirty="0" err="1">
                <a:solidFill>
                  <a:schemeClr val="tx1"/>
                </a:solidFill>
              </a:rPr>
              <a:t>ActionTree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action </a:t>
            </a:r>
            <a:r>
              <a:rPr lang="en-US" sz="600" dirty="0" err="1">
                <a:solidFill>
                  <a:schemeClr val="tx1"/>
                </a:solidFill>
              </a:rPr>
              <a:t>produceDirectedLight</a:t>
            </a:r>
            <a:r>
              <a:rPr lang="en-US" sz="600" dirty="0">
                <a:solidFill>
                  <a:schemeClr val="tx1"/>
                </a:solidFill>
              </a:rPr>
              <a:t>{</a:t>
            </a:r>
          </a:p>
          <a:p>
            <a:r>
              <a:rPr lang="en-US" sz="600" dirty="0">
                <a:solidFill>
                  <a:schemeClr val="tx1"/>
                </a:solidFill>
              </a:rPr>
              <a:t>            in item </a:t>
            </a:r>
            <a:r>
              <a:rPr lang="en-US" sz="600" dirty="0" err="1">
                <a:solidFill>
                  <a:schemeClr val="tx1"/>
                </a:solidFill>
              </a:rPr>
              <a:t>onOffCmd</a:t>
            </a:r>
            <a:r>
              <a:rPr lang="en-US" sz="600" dirty="0">
                <a:solidFill>
                  <a:schemeClr val="tx1"/>
                </a:solidFill>
              </a:rPr>
              <a:t>; //input</a:t>
            </a:r>
          </a:p>
        </p:txBody>
      </p:sp>
    </p:spTree>
    <p:extLst>
      <p:ext uri="{BB962C8B-B14F-4D97-AF65-F5344CB8AC3E}">
        <p14:creationId xmlns:p14="http://schemas.microsoft.com/office/powerpoint/2010/main" val="211871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8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6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9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4E5DBF-1B01-4344-9330-851E2AF998FF}">
  <ds:schemaRefs/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FB08C246-4216-47B9-B943-2D4F1A392C3F}">
  <ds:schemaRefs/>
</ds:datastoreItem>
</file>

<file path=customXml/itemProps4.xml><?xml version="1.0" encoding="utf-8"?>
<ds:datastoreItem xmlns:ds="http://schemas.openxmlformats.org/officeDocument/2006/customXml" ds:itemID="{3CEDE958-A289-4F43-AB16-8D80F6812CD1}">
  <ds:schemaRefs/>
</ds:datastoreItem>
</file>

<file path=customXml/itemProps5.xml><?xml version="1.0" encoding="utf-8"?>
<ds:datastoreItem xmlns:ds="http://schemas.openxmlformats.org/officeDocument/2006/customXml" ds:itemID="{400AE978-C982-4764-8B5A-A9725C7AA005}">
  <ds:schemaRefs/>
</ds:datastoreItem>
</file>

<file path=customXml/itemProps6.xml><?xml version="1.0" encoding="utf-8"?>
<ds:datastoreItem xmlns:ds="http://schemas.openxmlformats.org/officeDocument/2006/customXml" ds:itemID="{3363B716-1B3F-4EF4-A645-2849D6A2A1C7}">
  <ds:schemaRefs/>
</ds:datastoreItem>
</file>

<file path=customXml/itemProps7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9095741A-CCDF-4B58-ADBB-E7CDCD30ED42}">
  <ds:schemaRefs/>
</ds:datastoreItem>
</file>

<file path=customXml/itemProps9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20782</TotalTime>
  <Words>323</Words>
  <Application>Microsoft Macintosh PowerPoint</Application>
  <PresentationFormat>On-screen Show (16:9)</PresentationFormat>
  <Paragraphs>46</Paragraphs>
  <Slides>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Kantoorthema</vt:lpstr>
      <vt:lpstr>PowerPoint Presentation</vt:lpstr>
      <vt:lpstr>Understanding SysML V2 Language Architecture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30</cp:revision>
  <dcterms:created xsi:type="dcterms:W3CDTF">2025-12-18T10:00:57Z</dcterms:created>
  <dcterms:modified xsi:type="dcterms:W3CDTF">2026-03-24T11:08:14Z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