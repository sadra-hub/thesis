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0"/>
  </p:sldMasterIdLst>
  <p:notesMasterIdLst>
    <p:notesMasterId r:id="rId21"/>
  </p:notesMasterIdLst>
  <p:sldIdLst>
    <p:sldId id="268" r:id="rId11"/>
    <p:sldId id="282" r:id="rId12"/>
    <p:sldId id="290" r:id="rId13"/>
    <p:sldId id="288" r:id="rId14"/>
    <p:sldId id="289" r:id="rId15"/>
    <p:sldId id="283" r:id="rId16"/>
    <p:sldId id="286" r:id="rId17"/>
    <p:sldId id="287" r:id="rId18"/>
    <p:sldId id="284" r:id="rId19"/>
    <p:sldId id="270" r:id="rId20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EE8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978" autoAdjust="0"/>
    <p:restoredTop sz="96433" autoAdjust="0"/>
  </p:normalViewPr>
  <p:slideViewPr>
    <p:cSldViewPr snapToGrid="0" showGuides="1">
      <p:cViewPr varScale="1">
        <p:scale>
          <a:sx n="136" d="100"/>
          <a:sy n="136" d="100"/>
        </p:scale>
        <p:origin x="440" y="192"/>
      </p:cViewPr>
      <p:guideLst/>
    </p:cSldViewPr>
  </p:slideViewPr>
  <p:outlineViewPr>
    <p:cViewPr>
      <p:scale>
        <a:sx n="33" d="100"/>
        <a:sy n="33" d="100"/>
      </p:scale>
      <p:origin x="0" y="-3978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customXml" Target="../customXml/item7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F25DE2-B715-4EA4-8CF0-DA425EA806A7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99BBE-B871-48D7-983C-C0B1D7156DC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71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799BBE-B871-48D7-983C-C0B1D7156DC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6919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top"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descr="{&quot;templafy&quot;:{&quot;id&quot;:&quot;0e5b527a-3d90-4e88-a06e-e938b7f1c9b6&quot;}}">
            <a:extLst>
              <a:ext uri="{FF2B5EF4-FFF2-40B4-BE49-F238E27FC236}">
                <a16:creationId xmlns:a16="http://schemas.microsoft.com/office/drawing/2014/main" id="{3A915C78-7D6E-1295-0948-C16B4CAD7BAC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Black75"/>
          <p:cNvSpPr/>
          <p:nvPr userDrawn="1"/>
        </p:nvSpPr>
        <p:spPr>
          <a:xfrm>
            <a:off x="0" y="75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5" name="Rectangle 4" descr="{&quot;templafy&quot;:{&quot;id&quot;:&quot;50bcac18-bc09-4bfd-a03e-a918438f2568&quot;}}">
            <a:extLst>
              <a:ext uri="{FF2B5EF4-FFF2-40B4-BE49-F238E27FC236}">
                <a16:creationId xmlns:a16="http://schemas.microsoft.com/office/drawing/2014/main" id="{72504917-0F58-D488-C3C4-52C1BEFA8B7E}"/>
              </a:ext>
            </a:extLst>
          </p:cNvPr>
          <p:cNvSpPr/>
          <p:nvPr userDrawn="1"/>
        </p:nvSpPr>
        <p:spPr>
          <a:xfrm>
            <a:off x="1" y="754675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6" name="Rectangle 5" descr="{&quot;templafy&quot;:{&quot;id&quot;:&quot;3f2967ac-5798-4c72-b5bd-353602e77653&quot;}}">
            <a:extLst>
              <a:ext uri="{FF2B5EF4-FFF2-40B4-BE49-F238E27FC236}">
                <a16:creationId xmlns:a16="http://schemas.microsoft.com/office/drawing/2014/main" id="{46DF2CC8-8F92-02D0-C277-1219471F7DED}"/>
              </a:ext>
            </a:extLst>
          </p:cNvPr>
          <p:cNvSpPr/>
          <p:nvPr userDrawn="1"/>
        </p:nvSpPr>
        <p:spPr>
          <a:xfrm>
            <a:off x="1" y="1545350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  <p:sp>
        <p:nvSpPr>
          <p:cNvPr id="14" name="Rectangle 13" descr="{&quot;templafy&quot;:{&quot;id&quot;:&quot;5871fdfc-1616-482a-b92a-57a54a74cf93&quot;}}">
            <a:extLst>
              <a:ext uri="{FF2B5EF4-FFF2-40B4-BE49-F238E27FC236}">
                <a16:creationId xmlns:a16="http://schemas.microsoft.com/office/drawing/2014/main" id="{55166E2C-6BB2-63E0-6516-08C074E0A386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</p:spTree>
    <p:extLst>
      <p:ext uri="{BB962C8B-B14F-4D97-AF65-F5344CB8AC3E}">
        <p14:creationId xmlns:p14="http://schemas.microsoft.com/office/powerpoint/2010/main" val="164422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in the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lack75"/>
          <p:cNvSpPr/>
          <p:nvPr userDrawn="1"/>
        </p:nvSpPr>
        <p:spPr>
          <a:xfrm>
            <a:off x="0" y="183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5" name="Rectangle 14" descr="{&quot;templafy&quot;:{&quot;id&quot;:&quot;9c7a5cb5-8144-4203-97c6-a0d35d233a00&quot;}}">
            <a:extLst>
              <a:ext uri="{FF2B5EF4-FFF2-40B4-BE49-F238E27FC236}">
                <a16:creationId xmlns:a16="http://schemas.microsoft.com/office/drawing/2014/main" id="{EF27D3DC-827E-B7E1-41BB-32667AD73885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6" name="Rectangle 15" descr="{&quot;templafy&quot;:{&quot;id&quot;:&quot;436d1937-4d56-4636-aae6-ee6b855a9e92&quot;}}">
            <a:extLst>
              <a:ext uri="{FF2B5EF4-FFF2-40B4-BE49-F238E27FC236}">
                <a16:creationId xmlns:a16="http://schemas.microsoft.com/office/drawing/2014/main" id="{622B89E9-6ADB-FD59-9BA3-5B4FA0249F84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[Owner]</a:t>
            </a:r>
          </a:p>
        </p:txBody>
      </p:sp>
      <p:sp>
        <p:nvSpPr>
          <p:cNvPr id="17" name="Rectangle 16" descr="{&quot;templafy&quot;:{&quot;id&quot;:&quot;9cb4fe64-f1f7-4586-bb2d-6aedacc7ca68&quot;}}">
            <a:extLst>
              <a:ext uri="{FF2B5EF4-FFF2-40B4-BE49-F238E27FC236}">
                <a16:creationId xmlns:a16="http://schemas.microsoft.com/office/drawing/2014/main" id="{A2B0419A-D8EF-AF6A-C5AA-614FA8DA7382}"/>
              </a:ext>
            </a:extLst>
          </p:cNvPr>
          <p:cNvSpPr/>
          <p:nvPr userDrawn="1"/>
        </p:nvSpPr>
        <p:spPr>
          <a:xfrm>
            <a:off x="1" y="1837724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[Title]</a:t>
            </a:r>
          </a:p>
        </p:txBody>
      </p:sp>
      <p:sp>
        <p:nvSpPr>
          <p:cNvPr id="18" name="Rectangle 17" descr="{&quot;templafy&quot;:{&quot;id&quot;:&quot;8676d802-0bb3-4be6-a485-a42ca1296321&quot;}}">
            <a:extLst>
              <a:ext uri="{FF2B5EF4-FFF2-40B4-BE49-F238E27FC236}">
                <a16:creationId xmlns:a16="http://schemas.microsoft.com/office/drawing/2014/main" id="{EDA61324-A70A-DAD9-794B-665557D014A1}"/>
              </a:ext>
            </a:extLst>
          </p:cNvPr>
          <p:cNvSpPr/>
          <p:nvPr userDrawn="1"/>
        </p:nvSpPr>
        <p:spPr>
          <a:xfrm>
            <a:off x="1" y="2628399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000" b="1" dirty="0">
                <a:latin typeface="+mn-lt"/>
              </a:rPr>
              <a:t>[Subtitle or date]</a:t>
            </a:r>
          </a:p>
        </p:txBody>
      </p:sp>
    </p:spTree>
    <p:extLst>
      <p:ext uri="{BB962C8B-B14F-4D97-AF65-F5344CB8AC3E}">
        <p14:creationId xmlns:p14="http://schemas.microsoft.com/office/powerpoint/2010/main" val="293110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Title at th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lack75"/>
          <p:cNvSpPr/>
          <p:nvPr userDrawn="1"/>
        </p:nvSpPr>
        <p:spPr>
          <a:xfrm>
            <a:off x="0" y="2916000"/>
            <a:ext cx="9144000" cy="1080000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21D38FC-6D70-0146-84E1-32B3F0A2D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340600" y="4568825"/>
            <a:ext cx="1803400" cy="574675"/>
          </a:xfrm>
          <a:prstGeom prst="rect">
            <a:avLst/>
          </a:prstGeom>
        </p:spPr>
      </p:pic>
      <p:sp>
        <p:nvSpPr>
          <p:cNvPr id="16" name="Rectangle 15" descr="{&quot;templafy&quot;:{&quot;id&quot;:&quot;a319365d-1bdc-4cd5-8217-d38f95588f33&quot;}}">
            <a:extLst>
              <a:ext uri="{FF2B5EF4-FFF2-40B4-BE49-F238E27FC236}">
                <a16:creationId xmlns:a16="http://schemas.microsoft.com/office/drawing/2014/main" id="{C51ED843-127C-30BA-85DB-FDA76ABBF883}"/>
              </a:ext>
            </a:extLst>
          </p:cNvPr>
          <p:cNvSpPr/>
          <p:nvPr userDrawn="1"/>
        </p:nvSpPr>
        <p:spPr>
          <a:xfrm>
            <a:off x="-1" y="4567500"/>
            <a:ext cx="9143999" cy="581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lvl="0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7" name="Rectangle 16" descr="{&quot;templafy&quot;:{&quot;id&quot;:&quot;82753c11-9c27-4ae5-95f8-efe8694ad8e6&quot;}}">
            <a:extLst>
              <a:ext uri="{FF2B5EF4-FFF2-40B4-BE49-F238E27FC236}">
                <a16:creationId xmlns:a16="http://schemas.microsoft.com/office/drawing/2014/main" id="{203F9367-093B-506B-B9C1-31FF47E06A2A}"/>
              </a:ext>
            </a:extLst>
          </p:cNvPr>
          <p:cNvSpPr/>
          <p:nvPr userDrawn="1"/>
        </p:nvSpPr>
        <p:spPr>
          <a:xfrm>
            <a:off x="-6667" y="3993487"/>
            <a:ext cx="9143999" cy="574676"/>
          </a:xfrm>
          <a:prstGeom prst="rect">
            <a:avLst/>
          </a:prstGeom>
          <a:solidFill>
            <a:schemeClr val="tx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1100" b="1" dirty="0">
                <a:latin typeface="+mn-lt"/>
              </a:rPr>
              <a:t>Sadra Moosavi Lar - 2139901</a:t>
            </a:r>
          </a:p>
        </p:txBody>
      </p:sp>
      <p:sp>
        <p:nvSpPr>
          <p:cNvPr id="18" name="Rectangle 17" descr="{&quot;templafy&quot;:{&quot;id&quot;:&quot;f968fff4-206d-4ae2-bcd1-8dde7376f40f&quot;}}">
            <a:extLst>
              <a:ext uri="{FF2B5EF4-FFF2-40B4-BE49-F238E27FC236}">
                <a16:creationId xmlns:a16="http://schemas.microsoft.com/office/drawing/2014/main" id="{9D303C58-72C0-6292-B9C6-E0F1B06AD4EC}"/>
              </a:ext>
            </a:extLst>
          </p:cNvPr>
          <p:cNvSpPr/>
          <p:nvPr userDrawn="1"/>
        </p:nvSpPr>
        <p:spPr>
          <a:xfrm>
            <a:off x="6668" y="2909511"/>
            <a:ext cx="9143999" cy="790675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r>
              <a:rPr lang="en-US" sz="2200" b="1" dirty="0">
                <a:latin typeface="+mj-lt"/>
              </a:rPr>
              <a:t>Progress Report on Thesis </a:t>
            </a:r>
          </a:p>
        </p:txBody>
      </p:sp>
      <p:sp>
        <p:nvSpPr>
          <p:cNvPr id="19" name="Rectangle 18" descr="{&quot;templafy&quot;:{&quot;id&quot;:&quot;d5e4e40c-3f52-44bb-bd94-0c2e857cdb17&quot;}}">
            <a:extLst>
              <a:ext uri="{FF2B5EF4-FFF2-40B4-BE49-F238E27FC236}">
                <a16:creationId xmlns:a16="http://schemas.microsoft.com/office/drawing/2014/main" id="{AAFBC4FF-0C69-5557-BB41-080973EEE5A3}"/>
              </a:ext>
            </a:extLst>
          </p:cNvPr>
          <p:cNvSpPr/>
          <p:nvPr userDrawn="1"/>
        </p:nvSpPr>
        <p:spPr>
          <a:xfrm>
            <a:off x="6668" y="3700186"/>
            <a:ext cx="9143999" cy="288001"/>
          </a:xfrm>
          <a:prstGeom prst="rect">
            <a:avLst/>
          </a:prstGeom>
          <a:solidFill>
            <a:schemeClr val="tx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6000" tIns="0" rIns="1962000" bIns="0" rtlCol="0" anchor="ctr"/>
          <a:lstStyle/>
          <a:p>
            <a:pPr marL="0" lvl="0" indent="0" algn="l" defTabSz="688975">
              <a:tabLst>
                <a:tab pos="3048000" algn="l"/>
              </a:tabLst>
            </a:pPr>
            <a:fld id="{1A603C3A-77C1-0940-9355-EF960D2C4525}" type="datetime3">
              <a:rPr lang="en-US" sz="1000" b="1" smtClean="0">
                <a:latin typeface="+mn-lt"/>
              </a:rPr>
              <a:t>17 February 2026</a:t>
            </a:fld>
            <a:endParaRPr 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3749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443" y="518711"/>
            <a:ext cx="7556500" cy="539038"/>
          </a:xfrm>
        </p:spPr>
        <p:txBody>
          <a:bodyPr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6443" y="1294737"/>
            <a:ext cx="7556501" cy="2922458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212861902" name="Rectangle 20" descr="{&quot;templafy&quot;:{&quot;id&quot;:&quot;da8acce6-7b5a-4867-be02-c453b958f4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83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-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5793"/>
            <a:ext cx="359568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723606" y="1296000"/>
            <a:ext cx="3595688" cy="293310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714875" y="586800"/>
            <a:ext cx="3604419" cy="732238"/>
          </a:xfrm>
        </p:spPr>
        <p:txBody>
          <a:bodyPr anchor="t"/>
          <a:lstStyle>
            <a:lvl1pPr marL="0" indent="0">
              <a:buNone/>
              <a:defRPr lang="nl-NL" sz="1950" b="0" kern="120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pic>
        <p:nvPicPr>
          <p:cNvPr id="918533759" name="Rectangle 7" descr="{&quot;templafy&quot;:{&quot;id&quot;:&quot;354f1681-864a-416c-8c71-142c22f890c7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40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text - 1/2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4714875" y="0"/>
            <a:ext cx="4429125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405019404" name="Rectangle 3" descr="{&quot;templafy&quot;:{&quot;id&quot;:&quot;f5a7761c-cf48-492a-9f48-35d6978b765b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text - 1/3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6000" y="586800"/>
            <a:ext cx="4910138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0" y="1295401"/>
            <a:ext cx="491331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6046788" y="0"/>
            <a:ext cx="3097212" cy="45672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66865196" name="Rectangle 3" descr="{&quot;templafy&quot;:{&quot;id&quot;:&quot;dabe0df5-77b0-4bb4-8e04-2c5ab0300a3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40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+ image/movie 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wrap="none"/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</a:t>
            </a:r>
            <a:endParaRPr lang="en-US"/>
          </a:p>
        </p:txBody>
      </p:sp>
      <p:sp>
        <p:nvSpPr>
          <p:cNvPr id="10" name="Tijdelijke aanduiding voor inhoud 9"/>
          <p:cNvSpPr>
            <a:spLocks noGrp="1" noChangeAspect="1"/>
          </p:cNvSpPr>
          <p:nvPr>
            <p:ph sz="quarter" idx="13" hasCustomPrompt="1"/>
          </p:nvPr>
        </p:nvSpPr>
        <p:spPr>
          <a:xfrm>
            <a:off x="1889125" y="1079501"/>
            <a:ext cx="5292725" cy="29772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icon to insert 16x9 image or movie</a:t>
            </a:r>
            <a:endParaRPr lang="en-US"/>
          </a:p>
        </p:txBody>
      </p:sp>
      <p:sp>
        <p:nvSpPr>
          <p:cNvPr id="12" name="Tijdelijke aanduiding voor tekst 11"/>
          <p:cNvSpPr>
            <a:spLocks noGrp="1"/>
          </p:cNvSpPr>
          <p:nvPr>
            <p:ph type="body" sz="quarter" idx="14" hasCustomPrompt="1"/>
          </p:nvPr>
        </p:nvSpPr>
        <p:spPr>
          <a:xfrm>
            <a:off x="1889125" y="4106268"/>
            <a:ext cx="5292725" cy="165100"/>
          </a:xfrm>
        </p:spPr>
        <p:txBody>
          <a:bodyPr/>
          <a:lstStyle>
            <a:lvl1pPr>
              <a:defRPr sz="1100" i="1"/>
            </a:lvl1pPr>
          </a:lstStyle>
          <a:p>
            <a:pPr lvl="0"/>
            <a:r>
              <a:rPr lang="en-US" dirty="0"/>
              <a:t>Click to insert Caption under image or movie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49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A 27pt headline on a slide with three images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58824" y="1306642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3490913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4" hasCustomPrompt="1"/>
          </p:nvPr>
        </p:nvSpPr>
        <p:spPr>
          <a:xfrm>
            <a:off x="6235414" y="1302661"/>
            <a:ext cx="2084389" cy="636458"/>
          </a:xfrm>
        </p:spPr>
        <p:txBody>
          <a:bodyPr/>
          <a:lstStyle>
            <a:lvl1pPr>
              <a:defRPr sz="165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5" hasCustomPrompt="1"/>
          </p:nvPr>
        </p:nvSpPr>
        <p:spPr>
          <a:xfrm>
            <a:off x="755650" y="1943101"/>
            <a:ext cx="2087563" cy="2625298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insert image</a:t>
            </a:r>
            <a:endParaRPr lang="en-US"/>
          </a:p>
        </p:txBody>
      </p:sp>
      <p:sp>
        <p:nvSpPr>
          <p:cNvPr id="11" name="Tijdelijke aanduiding voor afbeelding 9"/>
          <p:cNvSpPr>
            <a:spLocks noGrp="1"/>
          </p:cNvSpPr>
          <p:nvPr>
            <p:ph type="pic" sz="quarter" idx="16" hasCustomPrompt="1"/>
          </p:nvPr>
        </p:nvSpPr>
        <p:spPr>
          <a:xfrm>
            <a:off x="3487739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  <p:sp>
        <p:nvSpPr>
          <p:cNvPr id="12" name="Tijdelijke aanduiding voor afbeelding 9"/>
          <p:cNvSpPr>
            <a:spLocks noGrp="1"/>
          </p:cNvSpPr>
          <p:nvPr>
            <p:ph type="pic" sz="quarter" idx="17" hasCustomPrompt="1"/>
          </p:nvPr>
        </p:nvSpPr>
        <p:spPr>
          <a:xfrm>
            <a:off x="6235414" y="1943101"/>
            <a:ext cx="2087563" cy="262529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20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image - 1/2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23518" y="586800"/>
            <a:ext cx="360000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720343" y="1295401"/>
            <a:ext cx="3598863" cy="29337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54513" cy="4567238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506598195" name="Rectangle 3" descr="{&quot;templafy&quot;:{&quot;id&quot;:&quot;d1b58bd7-7598-486e-9a89-256bb44d1248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270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image - 2/3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94405" y="586800"/>
            <a:ext cx="4820920" cy="732238"/>
          </a:xfrm>
        </p:spPr>
        <p:txBody>
          <a:bodyPr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This is an example of 19,5 </a:t>
            </a:r>
            <a:r>
              <a:rPr lang="en-US" dirty="0" err="1"/>
              <a:t>pt</a:t>
            </a:r>
            <a:r>
              <a:rPr lang="en-US" dirty="0"/>
              <a:t> text with single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491230" y="1295401"/>
            <a:ext cx="4824095" cy="29337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10" name="Tijdelijke aanduiding voor afbeelding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022600" cy="4567238"/>
          </a:xfrm>
        </p:spPr>
        <p:txBody>
          <a:bodyPr/>
          <a:lstStyle/>
          <a:p>
            <a:r>
              <a:rPr lang="en-US" dirty="0"/>
              <a:t>Click to insert image</a:t>
            </a:r>
            <a:endParaRPr lang="en-US"/>
          </a:p>
        </p:txBody>
      </p:sp>
      <p:pic>
        <p:nvPicPr>
          <p:cNvPr id="1059053793" name="Rectangle 3" descr="{&quot;templafy&quot;:{&quot;id&quot;:&quot;87548106-368b-4e2a-8d17-87420d681e29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dark image"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B5C4EFD-F141-47C5-CA31-3E0B03FF7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white headline on a full screen, dark 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5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+ full screen light imag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full screen, light image</a:t>
            </a:r>
            <a:endParaRPr lang="en-US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58AC4756-856D-316D-C785-243FF7236C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9144000" cy="45675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832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backgrou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825" y="518400"/>
            <a:ext cx="7556500" cy="73382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This is an example of a black headline on a white background</a:t>
            </a:r>
            <a:endParaRPr lang="en-US"/>
          </a:p>
        </p:txBody>
      </p:sp>
      <p:cxnSp>
        <p:nvCxnSpPr>
          <p:cNvPr id="7" name="Rechte verbindingslijn 6"/>
          <p:cNvCxnSpPr/>
          <p:nvPr userDrawn="1"/>
        </p:nvCxnSpPr>
        <p:spPr>
          <a:xfrm>
            <a:off x="0" y="4563782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jdelijke aanduiding voor afbeelding 8"/>
          <p:cNvSpPr>
            <a:spLocks noGrp="1"/>
          </p:cNvSpPr>
          <p:nvPr>
            <p:ph type="pic" sz="quarter" idx="13" hasCustomPrompt="1"/>
          </p:nvPr>
        </p:nvSpPr>
        <p:spPr>
          <a:xfrm>
            <a:off x="1890000" y="1299075"/>
            <a:ext cx="5292725" cy="2977200"/>
          </a:xfr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insert image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86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carlet backgrou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382731793" name="Rectangle 6" descr="{&quot;templafy&quot;:{&quot;id&quot;:&quot;9d9cd7d2-12ec-4c65-8c77-2a3d1eabdf6c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9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Sample slide with table and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5651" y="2638425"/>
            <a:ext cx="7563556" cy="1590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enter text</a:t>
            </a:r>
            <a:endParaRPr lang="en-US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sp>
        <p:nvSpPr>
          <p:cNvPr id="8" name="Tijdelijke aanduiding voor tabel 7"/>
          <p:cNvSpPr>
            <a:spLocks noGrp="1"/>
          </p:cNvSpPr>
          <p:nvPr>
            <p:ph type="tbl" sz="quarter" idx="13" hasCustomPrompt="1"/>
          </p:nvPr>
        </p:nvSpPr>
        <p:spPr>
          <a:xfrm>
            <a:off x="755650" y="1079501"/>
            <a:ext cx="7559675" cy="1152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table</a:t>
            </a:r>
            <a:endParaRPr lang="en-US"/>
          </a:p>
        </p:txBody>
      </p:sp>
      <p:pic>
        <p:nvPicPr>
          <p:cNvPr id="419903561" name="Rectangle 3" descr="{&quot;templafy&quot;:{&quot;id&quot;:&quot;1120b0c9-d33b-4baf-add8-56ea532d7515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8082" y="1307797"/>
            <a:ext cx="1767600" cy="347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89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5650" y="586800"/>
            <a:ext cx="7563556" cy="516339"/>
          </a:xfrm>
        </p:spPr>
        <p:txBody>
          <a:bodyPr wrap="none"/>
          <a:lstStyle>
            <a:lvl1pPr>
              <a:lnSpc>
                <a:spcPct val="100000"/>
              </a:lnSpc>
              <a:defRPr sz="1950" b="0" baseline="0"/>
            </a:lvl1pPr>
          </a:lstStyle>
          <a:p>
            <a:r>
              <a:rPr lang="en-US" dirty="0"/>
              <a:t>Example chart</a:t>
            </a:r>
            <a:endParaRPr lang="en-US"/>
          </a:p>
        </p:txBody>
      </p:sp>
      <p:sp>
        <p:nvSpPr>
          <p:cNvPr id="9" name="Tijdelijke aanduiding voor grafiek 8"/>
          <p:cNvSpPr>
            <a:spLocks noGrp="1"/>
          </p:cNvSpPr>
          <p:nvPr>
            <p:ph type="chart" sz="quarter" idx="13" hasCustomPrompt="1"/>
          </p:nvPr>
        </p:nvSpPr>
        <p:spPr>
          <a:xfrm>
            <a:off x="755650" y="1079500"/>
            <a:ext cx="7559675" cy="3149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insert chart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34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674435-4D3F-D6A8-A0BB-6B63593D62BC}"/>
              </a:ext>
            </a:extLst>
          </p:cNvPr>
          <p:cNvSpPr txBox="1"/>
          <p:nvPr userDrawn="1"/>
        </p:nvSpPr>
        <p:spPr>
          <a:xfrm>
            <a:off x="1933073" y="1602619"/>
            <a:ext cx="5277854" cy="120032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2281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825" y="518711"/>
            <a:ext cx="7556500" cy="5390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This is an example of a 27 </a:t>
            </a:r>
            <a:r>
              <a:rPr lang="en-US" dirty="0" err="1"/>
              <a:t>pt</a:t>
            </a:r>
            <a:r>
              <a:rPr lang="en-US" dirty="0"/>
              <a:t> headline with 27 </a:t>
            </a:r>
            <a:r>
              <a:rPr lang="en-US" dirty="0" err="1"/>
              <a:t>pt</a:t>
            </a:r>
            <a:r>
              <a:rPr lang="en-US" dirty="0"/>
              <a:t> line spacing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824" y="1306642"/>
            <a:ext cx="7556501" cy="29224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 err="1"/>
              <a:t>Klik</a:t>
            </a:r>
            <a:r>
              <a:rPr lang="en-US" dirty="0"/>
              <a:t> om de </a:t>
            </a:r>
            <a:r>
              <a:rPr lang="en-US" dirty="0" err="1"/>
              <a:t>modelstijlen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bewerken</a:t>
            </a:r>
            <a:endParaRPr lang="en-US" dirty="0"/>
          </a:p>
          <a:p>
            <a:pPr lvl="1"/>
            <a:r>
              <a:rPr lang="en-US" dirty="0" err="1"/>
              <a:t>Tweede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2"/>
            <a:r>
              <a:rPr lang="en-US" dirty="0" err="1"/>
              <a:t>Derde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3"/>
            <a:r>
              <a:rPr lang="en-US" dirty="0" err="1"/>
              <a:t>Vierde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  <a:p>
            <a:pPr lvl="4"/>
            <a:r>
              <a:rPr lang="en-US" dirty="0" err="1"/>
              <a:t>Vijfde</a:t>
            </a:r>
            <a:r>
              <a:rPr lang="en-US" dirty="0"/>
              <a:t> </a:t>
            </a:r>
            <a:r>
              <a:rPr lang="en-US" dirty="0" err="1"/>
              <a:t>niveau</a:t>
            </a:r>
            <a:endParaRPr lang="en-US" dirty="0"/>
          </a:p>
        </p:txBody>
      </p:sp>
      <p:pic>
        <p:nvPicPr>
          <p:cNvPr id="66" name="Picture 4">
            <a:extLst>
              <a:ext uri="{FF2B5EF4-FFF2-40B4-BE49-F238E27FC236}">
                <a16:creationId xmlns:a16="http://schemas.microsoft.com/office/drawing/2014/main" id="{93FD69BB-9D62-3A4C-8433-C5954D52BB6F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8156575" y="4568825"/>
            <a:ext cx="987425" cy="574675"/>
          </a:xfrm>
          <a:prstGeom prst="rect">
            <a:avLst/>
          </a:prstGeom>
        </p:spPr>
      </p:pic>
      <p:sp>
        <p:nvSpPr>
          <p:cNvPr id="4" name="Rectangle 3" descr="{&quot;templafy&quot;:{&quot;id&quot;:&quot;3093273a-680f-4802-91c8-5822ae71304c&quot;}}">
            <a:extLst>
              <a:ext uri="{FF2B5EF4-FFF2-40B4-BE49-F238E27FC236}">
                <a16:creationId xmlns:a16="http://schemas.microsoft.com/office/drawing/2014/main" id="{CAB1518B-D283-A4E3-DB27-70B344BB7683}"/>
              </a:ext>
            </a:extLst>
          </p:cNvPr>
          <p:cNvSpPr/>
          <p:nvPr userDrawn="1"/>
        </p:nvSpPr>
        <p:spPr>
          <a:xfrm>
            <a:off x="1114425" y="4568400"/>
            <a:ext cx="7042149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Progress Report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727E33-D15C-F68D-AC24-C5E575E9DE15}"/>
              </a:ext>
            </a:extLst>
          </p:cNvPr>
          <p:cNvSpPr/>
          <p:nvPr userDrawn="1"/>
        </p:nvSpPr>
        <p:spPr>
          <a:xfrm>
            <a:off x="0" y="4568399"/>
            <a:ext cx="1114424" cy="574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BCDE33B9-1F9E-4BC2-BE93-A4176EB52515}" type="slidenum">
              <a:rPr lang="en-US" smtClean="0">
                <a:solidFill>
                  <a:schemeClr val="tx1"/>
                </a:solidFill>
              </a:rPr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79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61" r:id="rId3"/>
    <p:sldLayoutId id="2147483662" r:id="rId4"/>
    <p:sldLayoutId id="2147483664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6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hf hdr="0" dt="0"/>
  <p:txStyles>
    <p:titleStyle>
      <a:lvl1pPr algn="l" defTabSz="685800" rtl="0" eaLnBrk="1" latinLnBrk="0" hangingPunct="1">
        <a:lnSpc>
          <a:spcPts val="27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65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975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539750" indent="-17780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8.xml"/><Relationship Id="rId1" Type="http://schemas.openxmlformats.org/officeDocument/2006/relationships/customXml" Target="../../customXml/item6.xml"/><Relationship Id="rId5" Type="http://schemas.openxmlformats.org/officeDocument/2006/relationships/image" Target="../media/image4.jp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47096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2D67E-83A6-E8CB-4B12-A7AAFFFFA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451679"/>
            <a:ext cx="7556500" cy="539038"/>
          </a:xfrm>
        </p:spPr>
        <p:txBody>
          <a:bodyPr/>
          <a:lstStyle/>
          <a:p>
            <a:r>
              <a:rPr lang="en-US" dirty="0"/>
              <a:t>Evolution of Systems Engineering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DCD571-4235-2D92-E399-3CDEE57489CD}"/>
              </a:ext>
            </a:extLst>
          </p:cNvPr>
          <p:cNvSpPr/>
          <p:nvPr/>
        </p:nvSpPr>
        <p:spPr>
          <a:xfrm>
            <a:off x="247258" y="772997"/>
            <a:ext cx="8897366" cy="403485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9FC9093-B7BA-1BB0-FE8B-B5D951996FE7}"/>
              </a:ext>
            </a:extLst>
          </p:cNvPr>
          <p:cNvSpPr/>
          <p:nvPr/>
        </p:nvSpPr>
        <p:spPr>
          <a:xfrm>
            <a:off x="2121031" y="1393654"/>
            <a:ext cx="6871175" cy="3115997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3A8CAC1-638F-4911-3416-E24D5D77683F}"/>
              </a:ext>
            </a:extLst>
          </p:cNvPr>
          <p:cNvSpPr/>
          <p:nvPr/>
        </p:nvSpPr>
        <p:spPr>
          <a:xfrm>
            <a:off x="4345740" y="1996442"/>
            <a:ext cx="4429591" cy="20087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6F6DD2-92BE-48AB-7BB0-2DFC8DF20F01}"/>
              </a:ext>
            </a:extLst>
          </p:cNvPr>
          <p:cNvSpPr txBox="1"/>
          <p:nvPr/>
        </p:nvSpPr>
        <p:spPr>
          <a:xfrm>
            <a:off x="1121143" y="1799004"/>
            <a:ext cx="19997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Systems Engineering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18F4D42-FA6C-AD69-739B-A65355FFD0DC}"/>
              </a:ext>
            </a:extLst>
          </p:cNvPr>
          <p:cNvCxnSpPr>
            <a:cxnSpLocks/>
          </p:cNvCxnSpPr>
          <p:nvPr/>
        </p:nvCxnSpPr>
        <p:spPr>
          <a:xfrm>
            <a:off x="247258" y="3271101"/>
            <a:ext cx="852807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A9A50EC-FE08-35D5-BC82-E3C5864E09AE}"/>
              </a:ext>
            </a:extLst>
          </p:cNvPr>
          <p:cNvSpPr txBox="1"/>
          <p:nvPr/>
        </p:nvSpPr>
        <p:spPr>
          <a:xfrm>
            <a:off x="3229138" y="2263278"/>
            <a:ext cx="15531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Model Based Systems Engineering (MBSE)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E1A986-4A3C-D93F-5740-9408CC3DE40B}"/>
              </a:ext>
            </a:extLst>
          </p:cNvPr>
          <p:cNvSpPr txBox="1"/>
          <p:nvPr/>
        </p:nvSpPr>
        <p:spPr>
          <a:xfrm>
            <a:off x="5783973" y="2779364"/>
            <a:ext cx="15531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Digital Engineering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131C7C6-CB4A-37D6-9CA2-3206B2572C97}"/>
              </a:ext>
            </a:extLst>
          </p:cNvPr>
          <p:cNvCxnSpPr/>
          <p:nvPr/>
        </p:nvCxnSpPr>
        <p:spPr>
          <a:xfrm>
            <a:off x="4695941" y="3199393"/>
            <a:ext cx="0" cy="1566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76F24AB-CD85-9BFC-D585-4D903C38AE83}"/>
              </a:ext>
            </a:extLst>
          </p:cNvPr>
          <p:cNvSpPr txBox="1"/>
          <p:nvPr/>
        </p:nvSpPr>
        <p:spPr>
          <a:xfrm>
            <a:off x="4427277" y="3355118"/>
            <a:ext cx="5373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2013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FBDFAF3-2C2D-5D37-7EFE-E39AE267CA9C}"/>
              </a:ext>
            </a:extLst>
          </p:cNvPr>
          <p:cNvCxnSpPr/>
          <p:nvPr/>
        </p:nvCxnSpPr>
        <p:spPr>
          <a:xfrm>
            <a:off x="2465867" y="3199393"/>
            <a:ext cx="0" cy="1566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D81C318-6E84-0143-6236-0F5834CCD1EB}"/>
              </a:ext>
            </a:extLst>
          </p:cNvPr>
          <p:cNvSpPr txBox="1"/>
          <p:nvPr/>
        </p:nvSpPr>
        <p:spPr>
          <a:xfrm>
            <a:off x="2197203" y="3355118"/>
            <a:ext cx="5373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1990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9BC6BBA-5DA0-3A0B-26A8-7B4E607EFF51}"/>
              </a:ext>
            </a:extLst>
          </p:cNvPr>
          <p:cNvCxnSpPr/>
          <p:nvPr/>
        </p:nvCxnSpPr>
        <p:spPr>
          <a:xfrm>
            <a:off x="570733" y="3219622"/>
            <a:ext cx="0" cy="15666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A718E6C-1D07-E2FC-A871-3DF5C9BDABAC}"/>
              </a:ext>
            </a:extLst>
          </p:cNvPr>
          <p:cNvSpPr txBox="1"/>
          <p:nvPr/>
        </p:nvSpPr>
        <p:spPr>
          <a:xfrm>
            <a:off x="302069" y="3375347"/>
            <a:ext cx="53732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1940</a:t>
            </a:r>
          </a:p>
        </p:txBody>
      </p:sp>
    </p:spTree>
    <p:extLst>
      <p:ext uri="{BB962C8B-B14F-4D97-AF65-F5344CB8AC3E}">
        <p14:creationId xmlns:p14="http://schemas.microsoft.com/office/powerpoint/2010/main" val="8973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E7E0-63F9-949F-8E63-55281B184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673" y="349029"/>
            <a:ext cx="2875696" cy="539038"/>
          </a:xfrm>
        </p:spPr>
        <p:txBody>
          <a:bodyPr/>
          <a:lstStyle/>
          <a:p>
            <a:r>
              <a:rPr lang="en-US" dirty="0"/>
              <a:t>MBSE Languages</a:t>
            </a:r>
          </a:p>
        </p:txBody>
      </p:sp>
      <p:pic>
        <p:nvPicPr>
          <p:cNvPr id="5" name="Content Placeholder 4" descr="A diagram of a language&#10;&#10;AI-generated content may be incorrect.">
            <a:extLst>
              <a:ext uri="{FF2B5EF4-FFF2-40B4-BE49-F238E27FC236}">
                <a16:creationId xmlns:a16="http://schemas.microsoft.com/office/drawing/2014/main" id="{7710F2CD-45F9-BD7F-68E4-E5FE21E09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6611" y="0"/>
            <a:ext cx="5317389" cy="4624789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89852E-6523-3845-19AC-3801ECDABF47}"/>
              </a:ext>
            </a:extLst>
          </p:cNvPr>
          <p:cNvSpPr txBox="1"/>
          <p:nvPr/>
        </p:nvSpPr>
        <p:spPr>
          <a:xfrm>
            <a:off x="489673" y="1154807"/>
            <a:ext cx="299824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Non‑formal: natural language + drawings (good for early ideas)</a:t>
            </a:r>
          </a:p>
          <a:p>
            <a:endParaRPr lang="en-US" dirty="0"/>
          </a:p>
          <a:p>
            <a:r>
              <a:rPr lang="en-US" dirty="0"/>
              <a:t>Semi‑formal: diagrammatic languages (e.g., UML/SysML, AADL, Arcadia/Capella, Simulink)</a:t>
            </a:r>
          </a:p>
          <a:p>
            <a:endParaRPr lang="en-US" dirty="0"/>
          </a:p>
          <a:p>
            <a:r>
              <a:rPr lang="en-US" dirty="0"/>
              <a:t>Formal methods: mathematically defined semantics → proofs/model checking (e.g., Petri nets, timed automata, CSP/CCS, temporal logic, Event‑B, </a:t>
            </a:r>
            <a:r>
              <a:rPr lang="en-US" dirty="0" err="1"/>
              <a:t>Lustre</a:t>
            </a:r>
            <a:r>
              <a:rPr lang="en-US" dirty="0"/>
              <a:t>/SCADE)</a:t>
            </a:r>
          </a:p>
        </p:txBody>
      </p:sp>
    </p:spTree>
    <p:extLst>
      <p:ext uri="{BB962C8B-B14F-4D97-AF65-F5344CB8AC3E}">
        <p14:creationId xmlns:p14="http://schemas.microsoft.com/office/powerpoint/2010/main" val="298552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AEBAE-89F7-197C-1145-6B45A905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443" y="518710"/>
            <a:ext cx="7556500" cy="1113319"/>
          </a:xfrm>
        </p:spPr>
        <p:txBody>
          <a:bodyPr/>
          <a:lstStyle/>
          <a:p>
            <a:r>
              <a:rPr lang="en-US" dirty="0"/>
              <a:t>In 2013 NAVAIR Asked:</a:t>
            </a:r>
            <a:br>
              <a:rPr lang="en-US" dirty="0"/>
            </a:br>
            <a:r>
              <a:rPr lang="en-US" dirty="0"/>
              <a:t>the most advanced and holistic approach to MCE you use or have seen used?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45BDF-42B2-58A8-438A-B11206720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443" y="1794077"/>
            <a:ext cx="7556501" cy="242311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Model-based engineering (MBE),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 Centric Engineering (MCE),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Integrated model-centric engineering (IMCE),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Interactive model-centric systems engineering (IMCSE),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Model-driven development (MDD),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Model-driven engineering (MDE),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Model-based enterprise (MBE)</a:t>
            </a:r>
          </a:p>
        </p:txBody>
      </p:sp>
    </p:spTree>
    <p:extLst>
      <p:ext uri="{BB962C8B-B14F-4D97-AF65-F5344CB8AC3E}">
        <p14:creationId xmlns:p14="http://schemas.microsoft.com/office/powerpoint/2010/main" val="123524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7FC69-20A3-2237-1E63-CE53AD9F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DoDs Digital Engineering 5 Strategic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A4BA-3765-C317-872C-B4CF70D81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highlight>
                  <a:srgbClr val="FFFF00"/>
                </a:highlight>
              </a:rPr>
              <a:t>Formalize development, integration, and use of models to inform enterprise and program decision making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Provide an enduring, authoritative source of truth (</a:t>
            </a:r>
            <a:r>
              <a:rPr lang="en-US" dirty="0" err="1"/>
              <a:t>ASoT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Incorporate technological innovation to improve the engineering practice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Establish a supporting infrastructure and environments to perform activities and communicate across stakeholders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Transform the culture and workforce to adopt and support digital engineering across the lifecycle</a:t>
            </a:r>
          </a:p>
        </p:txBody>
      </p:sp>
    </p:spTree>
    <p:extLst>
      <p:ext uri="{BB962C8B-B14F-4D97-AF65-F5344CB8AC3E}">
        <p14:creationId xmlns:p14="http://schemas.microsoft.com/office/powerpoint/2010/main" val="3355709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A7895-FEE6-5531-C5A8-DD6ABFE8D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MBSE in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ECCE9-819F-1D7A-626A-2FE238EBF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Adoption is accelerating</a:t>
            </a:r>
          </a:p>
          <a:p>
            <a:pPr marL="882650" lvl="4" indent="-342900"/>
            <a:r>
              <a:rPr lang="en-US" dirty="0"/>
              <a:t>Most used languages: SysML (most common), then UML, plus a few others (e.g., BPMN, OPM, RAAML) </a:t>
            </a:r>
          </a:p>
          <a:p>
            <a:pPr marL="882650" lvl="4" indent="-342900"/>
            <a:r>
              <a:rPr lang="en-US" dirty="0"/>
              <a:t>SysML popularity reason (practical):</a:t>
            </a:r>
          </a:p>
          <a:p>
            <a:pPr marL="882650" lvl="4" indent="-342900"/>
            <a:r>
              <a:rPr lang="en-US" dirty="0"/>
              <a:t>Requirement diagrams → traceability</a:t>
            </a:r>
          </a:p>
          <a:p>
            <a:pPr marL="882650" lvl="4" indent="-342900"/>
            <a:r>
              <a:rPr lang="en-US" dirty="0"/>
              <a:t>Parametric diagrams → quantitative trade-offs (cost/quality/constraints)  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MBSE is often </a:t>
            </a:r>
            <a:r>
              <a:rPr lang="en-US" dirty="0">
                <a:highlight>
                  <a:srgbClr val="FFFF00"/>
                </a:highlight>
              </a:rPr>
              <a:t>combined with analytics </a:t>
            </a:r>
            <a:r>
              <a:rPr lang="en-US" dirty="0"/>
              <a:t>like: Simulation, co-simulation, and hybrid simulation (DES is most common)</a:t>
            </a:r>
          </a:p>
        </p:txBody>
      </p:sp>
    </p:spTree>
    <p:extLst>
      <p:ext uri="{BB962C8B-B14F-4D97-AF65-F5344CB8AC3E}">
        <p14:creationId xmlns:p14="http://schemas.microsoft.com/office/powerpoint/2010/main" val="271091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Inpatient with solid fill">
            <a:extLst>
              <a:ext uri="{FF2B5EF4-FFF2-40B4-BE49-F238E27FC236}">
                <a16:creationId xmlns:a16="http://schemas.microsoft.com/office/drawing/2014/main" id="{E9B60D3B-F435-EC9B-EC4A-AC1F3B45CE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75362" y="673863"/>
            <a:ext cx="2448046" cy="2448046"/>
          </a:xfrm>
          <a:prstGeom prst="rect">
            <a:avLst/>
          </a:prstGeom>
        </p:spPr>
      </p:pic>
      <p:pic>
        <p:nvPicPr>
          <p:cNvPr id="9" name="Graphic 8" descr="Clipboard outline">
            <a:extLst>
              <a:ext uri="{FF2B5EF4-FFF2-40B4-BE49-F238E27FC236}">
                <a16:creationId xmlns:a16="http://schemas.microsoft.com/office/drawing/2014/main" id="{940584AB-97B4-EC85-7C82-6FFE1D1CE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0930" y="425202"/>
            <a:ext cx="914400" cy="914400"/>
          </a:xfrm>
          <a:prstGeom prst="rect">
            <a:avLst/>
          </a:prstGeom>
        </p:spPr>
      </p:pic>
      <p:pic>
        <p:nvPicPr>
          <p:cNvPr id="13" name="Graphic 12" descr="Stream outline">
            <a:extLst>
              <a:ext uri="{FF2B5EF4-FFF2-40B4-BE49-F238E27FC236}">
                <a16:creationId xmlns:a16="http://schemas.microsoft.com/office/drawing/2014/main" id="{B207F830-854A-33FD-1D42-BE51E405BC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64771" y="1229384"/>
            <a:ext cx="761445" cy="761445"/>
          </a:xfrm>
          <a:prstGeom prst="rect">
            <a:avLst/>
          </a:prstGeom>
        </p:spPr>
      </p:pic>
      <p:pic>
        <p:nvPicPr>
          <p:cNvPr id="15" name="Graphic 14" descr="Test tubes outline">
            <a:extLst>
              <a:ext uri="{FF2B5EF4-FFF2-40B4-BE49-F238E27FC236}">
                <a16:creationId xmlns:a16="http://schemas.microsoft.com/office/drawing/2014/main" id="{658F215E-9AEE-3DB5-4559-76864CA25A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66147" y="384819"/>
            <a:ext cx="761446" cy="761446"/>
          </a:xfrm>
          <a:prstGeom prst="rect">
            <a:avLst/>
          </a:prstGeom>
        </p:spPr>
      </p:pic>
      <p:pic>
        <p:nvPicPr>
          <p:cNvPr id="17" name="Graphic 16" descr="Server outline">
            <a:extLst>
              <a:ext uri="{FF2B5EF4-FFF2-40B4-BE49-F238E27FC236}">
                <a16:creationId xmlns:a16="http://schemas.microsoft.com/office/drawing/2014/main" id="{D90207D8-726E-9677-38A6-9A8700652B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4182" y="1185099"/>
            <a:ext cx="761446" cy="761446"/>
          </a:xfrm>
          <a:prstGeom prst="rect">
            <a:avLst/>
          </a:prstGeom>
        </p:spPr>
      </p:pic>
      <p:pic>
        <p:nvPicPr>
          <p:cNvPr id="19" name="Graphic 18" descr="Metronome outline">
            <a:extLst>
              <a:ext uri="{FF2B5EF4-FFF2-40B4-BE49-F238E27FC236}">
                <a16:creationId xmlns:a16="http://schemas.microsoft.com/office/drawing/2014/main" id="{256519D1-D155-75DD-6866-1CC0F5EF36B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587237" y="549580"/>
            <a:ext cx="761446" cy="761446"/>
          </a:xfrm>
          <a:prstGeom prst="rect">
            <a:avLst/>
          </a:prstGeom>
        </p:spPr>
      </p:pic>
      <p:pic>
        <p:nvPicPr>
          <p:cNvPr id="21" name="Graphic 20" descr="Doctor male outline">
            <a:extLst>
              <a:ext uri="{FF2B5EF4-FFF2-40B4-BE49-F238E27FC236}">
                <a16:creationId xmlns:a16="http://schemas.microsoft.com/office/drawing/2014/main" id="{3F54CE76-9635-CB88-A669-4DD899AD5B5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6211" y="975032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EB5A559-19A3-C935-B5E6-75A1BCA70152}"/>
              </a:ext>
            </a:extLst>
          </p:cNvPr>
          <p:cNvSpPr txBox="1"/>
          <p:nvPr/>
        </p:nvSpPr>
        <p:spPr>
          <a:xfrm>
            <a:off x="453726" y="1990830"/>
            <a:ext cx="2060691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Descriptive Models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Medical History</a:t>
            </a:r>
          </a:p>
          <a:p>
            <a:pPr algn="ctr"/>
            <a:r>
              <a:rPr lang="en-US" dirty="0"/>
              <a:t>Complaints &amp; Symptoms</a:t>
            </a:r>
          </a:p>
          <a:p>
            <a:pPr algn="ctr"/>
            <a:r>
              <a:rPr lang="en-US" dirty="0"/>
              <a:t>Etc.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9DC558-E6F8-0764-8BA4-72DA9EE0FF62}"/>
              </a:ext>
            </a:extLst>
          </p:cNvPr>
          <p:cNvSpPr txBox="1"/>
          <p:nvPr/>
        </p:nvSpPr>
        <p:spPr>
          <a:xfrm>
            <a:off x="6449133" y="2100691"/>
            <a:ext cx="2156919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Analytical Models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Test Results</a:t>
            </a:r>
          </a:p>
          <a:p>
            <a:pPr algn="ctr"/>
            <a:r>
              <a:rPr lang="en-US" dirty="0"/>
              <a:t>Real time monitoring</a:t>
            </a:r>
          </a:p>
          <a:p>
            <a:pPr algn="ctr"/>
            <a:r>
              <a:rPr lang="en-US" dirty="0"/>
              <a:t>Etc.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D17527-F453-BB5A-0EDA-1C9F2924C882}"/>
              </a:ext>
            </a:extLst>
          </p:cNvPr>
          <p:cNvSpPr/>
          <p:nvPr/>
        </p:nvSpPr>
        <p:spPr>
          <a:xfrm>
            <a:off x="2737816" y="3121909"/>
            <a:ext cx="3487918" cy="11578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 will happen if this patient, take X mg of Drug Y for Z weeks?</a:t>
            </a:r>
          </a:p>
        </p:txBody>
      </p:sp>
      <p:sp>
        <p:nvSpPr>
          <p:cNvPr id="25" name="Right Arrow Callout 24">
            <a:extLst>
              <a:ext uri="{FF2B5EF4-FFF2-40B4-BE49-F238E27FC236}">
                <a16:creationId xmlns:a16="http://schemas.microsoft.com/office/drawing/2014/main" id="{46D925D2-DD95-3AC4-5821-A6BA037779A3}"/>
              </a:ext>
            </a:extLst>
          </p:cNvPr>
          <p:cNvSpPr/>
          <p:nvPr/>
        </p:nvSpPr>
        <p:spPr>
          <a:xfrm>
            <a:off x="572039" y="276464"/>
            <a:ext cx="2475608" cy="2938075"/>
          </a:xfrm>
          <a:prstGeom prst="rightArrowCallout">
            <a:avLst>
              <a:gd name="adj1" fmla="val 16623"/>
              <a:gd name="adj2" fmla="val 15100"/>
              <a:gd name="adj3" fmla="val 14719"/>
              <a:gd name="adj4" fmla="val 75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Callout 25">
            <a:extLst>
              <a:ext uri="{FF2B5EF4-FFF2-40B4-BE49-F238E27FC236}">
                <a16:creationId xmlns:a16="http://schemas.microsoft.com/office/drawing/2014/main" id="{B78B7C65-71A8-7B14-BC7F-033FC64F72C1}"/>
              </a:ext>
            </a:extLst>
          </p:cNvPr>
          <p:cNvSpPr/>
          <p:nvPr/>
        </p:nvSpPr>
        <p:spPr>
          <a:xfrm flipH="1">
            <a:off x="5683052" y="314985"/>
            <a:ext cx="2880722" cy="2938075"/>
          </a:xfrm>
          <a:prstGeom prst="rightArrowCallout">
            <a:avLst>
              <a:gd name="adj1" fmla="val 14660"/>
              <a:gd name="adj2" fmla="val 12809"/>
              <a:gd name="adj3" fmla="val 14719"/>
              <a:gd name="adj4" fmla="val 75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29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5ABCE-F876-DA38-7690-36CEA53F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Justification of MBSE Healthcare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EE3B2-E7BC-1F9C-45EE-B3D2D6A80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Global Decision Making (rather than greedy treatment plans which are dependent on historical data)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Greedy Treatment no longer works:</a:t>
            </a:r>
          </a:p>
          <a:p>
            <a:pPr marL="523875" lvl="2" indent="-342900"/>
            <a:r>
              <a:rPr lang="en-US" dirty="0"/>
              <a:t>New Challenges (conflicts, pandemic, mental health)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Information Sharing (e.g. Black box in aircrafts)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66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607D3-CD76-1BCE-1CB2-9B10F85BF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MBSE is used </a:t>
            </a:r>
            <a:r>
              <a:rPr lang="en-US" sz="2000" dirty="0"/>
              <a:t>(and gaps)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C9464-8A7B-3F0D-D080-94EC1DAF7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IoT-enabled smart healthcare (largest cluster)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Clinical medicine (disease management, care models)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Medical device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Healthcare process improvement (e.g., ED flow, waiting times)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Facilities / hospital information systems (EHR/EMR, billing, BIM)  ￼</a:t>
            </a:r>
          </a:p>
          <a:p>
            <a:endParaRPr lang="en-US" b="1" dirty="0"/>
          </a:p>
          <a:p>
            <a:pPr>
              <a:spcAft>
                <a:spcPts val="600"/>
              </a:spcAft>
            </a:pPr>
            <a:r>
              <a:rPr lang="en-US" b="1" dirty="0"/>
              <a:t>Two research gaps: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Stronger integration with </a:t>
            </a:r>
            <a:r>
              <a:rPr lang="en-US" sz="1400" dirty="0">
                <a:highlight>
                  <a:srgbClr val="FFFF00"/>
                </a:highlight>
              </a:rPr>
              <a:t>data-driven methods </a:t>
            </a:r>
            <a:r>
              <a:rPr lang="en-US" sz="1400" dirty="0"/>
              <a:t>e.g., agent-based / hybrid simulation, AI/LLMs, digital twins for richer uncertainty + real-time support  ￼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400" dirty="0"/>
              <a:t>Model the human-in-the-loop better Current models are often patient-centric but under-model clinicians’ cognitive work (decision-making, workload, burnout dynamics)  ￼</a:t>
            </a:r>
          </a:p>
        </p:txBody>
      </p:sp>
    </p:spTree>
    <p:extLst>
      <p:ext uri="{BB962C8B-B14F-4D97-AF65-F5344CB8AC3E}">
        <p14:creationId xmlns:p14="http://schemas.microsoft.com/office/powerpoint/2010/main" val="4249096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27718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Kantoorthema">
  <a:themeElements>
    <a:clrScheme name="TUe_PPT_V2">
      <a:dk1>
        <a:sysClr val="windowText" lastClr="000000"/>
      </a:dk1>
      <a:lt1>
        <a:sysClr val="window" lastClr="FFFFFF"/>
      </a:lt1>
      <a:dk2>
        <a:srgbClr val="C81919"/>
      </a:dk2>
      <a:lt2>
        <a:srgbClr val="101073"/>
      </a:lt2>
      <a:accent1>
        <a:srgbClr val="C81919"/>
      </a:accent1>
      <a:accent2>
        <a:srgbClr val="9E9EB1"/>
      </a:accent2>
      <a:accent3>
        <a:srgbClr val="0092B5"/>
      </a:accent3>
      <a:accent4>
        <a:srgbClr val="FF9A00"/>
      </a:accent4>
      <a:accent5>
        <a:srgbClr val="101073"/>
      </a:accent5>
      <a:accent6>
        <a:srgbClr val="CEDF00"/>
      </a:accent6>
      <a:hlink>
        <a:srgbClr val="0563C1"/>
      </a:hlink>
      <a:folHlink>
        <a:srgbClr val="954F72"/>
      </a:folHlink>
    </a:clrScheme>
    <a:fontScheme name="TUe_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Ue 16x9 EN" id="{97F7A710-2E0D-45AA-B405-AD861E979FF9}" vid="{7E68701C-E484-4FA9-9B1A-14938FE65080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TemplafySlideTemplateConfiguration><![CDATA[{"slideVersion":1,"isValidatorEnabled":false,"isLocked":false,"elementsMetadata":[],"slideId":"638351419723556149","enableDocumentContentUpdater":false,"version":"2.0"}]]></TemplafySlideTemplateConfiguration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c81a03-33f5-430d-a427-dfbddb1fb524">
      <Terms xmlns="http://schemas.microsoft.com/office/infopath/2007/PartnerControls"/>
    </lcf76f155ced4ddcb4097134ff3c332f>
    <TaxCatchAll xmlns="89addd5d-1b61-4a22-b114-f0fd8c2dcf23" xsi:nil="true"/>
  </documentManagement>
</p:properties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,{"distinct":false,"hideIfNoUserInteractionRequired":false,"required":false,"defaultValue":"English (United States) (en-US)","autoSelectFirstOption":false,"helpTexts":{},"spacing":{},"shareValue":false,"type":"dropDown","dataSourceName":"Languages","dataSourceFieldName":"Name","name":"Language","label":"Language"},{"helpTexts":{},"spacing":{},"shareValue":false,"type":"checkBox","name":"ShowPowerPointInstructions","label":"Show PowerPoint instructions"}],"formDataEntries":[{"name":"Title","value":"eu4Owlo/FPCohSwkIJyx1Q=="},{"name":"Subtitle","value":"19hkcit5tGnwft36tb/4OI2IQOzf5pENHJcQTMzNQL4="},{"name":"Language","value":"abeq91JDhYTls/ygBdNhWNG4z6ah1Z8NlH8bM4Qtj1w="},{"name":"ShowPowerPointInstructions","value":"g7RW92AybdteY/S0zarayw=="}]}]]></Templafy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F465149FB9C5448C8CF5199B7F8DE2" ma:contentTypeVersion="10" ma:contentTypeDescription="Create a new document." ma:contentTypeScope="" ma:versionID="8cd7095fbec53cd6e9b4b528d8a754c1">
  <xsd:schema xmlns:xsd="http://www.w3.org/2001/XMLSchema" xmlns:xs="http://www.w3.org/2001/XMLSchema" xmlns:p="http://schemas.microsoft.com/office/2006/metadata/properties" xmlns:ns2="adc81a03-33f5-430d-a427-dfbddb1fb524" xmlns:ns3="89addd5d-1b61-4a22-b114-f0fd8c2dcf23" targetNamespace="http://schemas.microsoft.com/office/2006/metadata/properties" ma:root="true" ma:fieldsID="6f9faedb4f7c4312b114ec66ff6b5f83" ns2:_="" ns3:_="">
    <xsd:import namespace="adc81a03-33f5-430d-a427-dfbddb1fb524"/>
    <xsd:import namespace="89addd5d-1b61-4a22-b114-f0fd8c2dcf23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c81a03-33f5-430d-a427-dfbddb1fb524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f80264a-99e7-47cd-820c-3e92ce78c5e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addd5d-1b61-4a22-b114-f0fd8c2dcf2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7b29c17-ece9-467f-b874-d1c31772652f}" ma:internalName="TaxCatchAll" ma:showField="CatchAllData" ma:web="89addd5d-1b61-4a22-b114-f0fd8c2dcf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FormConfiguration><![CDATA[{"formFields":[{"required":false,"placeholder":"","lines":1,"shareValue":false,"type":"textBox","name":"Title","label":"Title"},{"required":false,"placeholder":"Write a subtitle or a date here","lines":1,"shareValue":false,"type":"textBox","name":"Subtitle","label":"Subtitle"}],"formDataEntries":[]}]]></TemplafySlideFormConfiguration>
</file>

<file path=customXml/item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8.xml><?xml version="1.0" encoding="utf-8"?>
<TemplafySlideTemplateConfiguration><![CDATA[{"slideVersion":1,"isValidatorEnabled":false,"isLocked":false,"elementsMetadata":[{"type":"shape","elementConfiguration":{"binding":"{{UserProfile.Department}}","visibility":"","type":"text","disableUpdates":false}},{"type":"shape","elementConfiguration":{"binding":"{{UserProfile.DisplayName}}, {{UserProfile.JobTitle}}","visibility":"","type":"text","disableUpdates":false}},{"type":"shape","elementConfiguration":{"binding":"{{Form.Title}}","visibility":"","type":"text","disableUpdates":false}},{"type":"shape","elementConfiguration":{"binding":"{{Form.Subtitle}}","visibility":"","type":"text","disableUpdates":false}}],"slideId":"638351419723211212","enableDocumentContentUpdater":false,"version":"2.0"}]]></TemplafySlideTemplateConfiguration>
</file>

<file path=customXml/item9.xml><?xml version="1.0" encoding="utf-8"?>
<TemplafyTemplateConfiguration><![CDATA[{"elementsMetadata":[{"type":"shape","id":"3093273a-680f-4802-91c8-5822ae71304c","elementConfiguration":{"binding":"{{Form.Title}}","visibility":"","type":"text","disableUpdates":false}},{"type":"shape","id":"a319365d-1bdc-4cd5-8217-d38f95588f33","elementConfiguration":{"binding":"{{UserProfile.Department}}","visibility":"","type":"text","disableUpdates":false}},{"type":"shape","id":"82753c11-9c27-4ae5-95f8-efe8694ad8e6","elementConfiguration":{"binding":"{{UserProfile.DisplayName}}, {{UserProfile.JobTitle}}","visibility":"","type":"text","disableUpdates":false}},{"type":"shape","id":"f968fff4-206d-4ae2-bcd1-8dde7376f40f","elementConfiguration":{"binding":"{{Form.Title}}","visibility":"","type":"text","disableUpdates":false}},{"type":"shape","id":"d5e4e40c-3f52-44bb-bd94-0c2e857cdb17","elementConfiguration":{"binding":"{{Form.Subtitle}}","visibility":"","type":"text","disableUpdates":false}},{"type":"shape","id":"dabe0df5-77b0-4bb4-8e04-2c5ab0300a3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c7a5cb5-8144-4203-97c6-a0d35d233a00","elementConfiguration":{"binding":"{{UserProfile.Department}}","visibility":"","type":"text","disableUpdates":false}},{"type":"shape","id":"436d1937-4d56-4636-aae6-ee6b855a9e92","elementConfiguration":{"binding":"{{UserProfile.DisplayName}}, {{UserProfile.JobTitle}}","visibility":"","type":"text","disableUpdates":false}},{"type":"shape","id":"9cb4fe64-f1f7-4586-bb2d-6aedacc7ca68","elementConfiguration":{"binding":"{{Form.Title}}","visibility":"","type":"text","disableUpdates":false}},{"type":"shape","id":"8676d802-0bb3-4be6-a485-a42ca1296321","elementConfiguration":{"binding":"{{Form.Subtitle}}","visibility":"","type":"text","disableUpdates":false}},{"type":"shape","id":"1120b0c9-d33b-4baf-add8-56ea532d7515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0e5b527a-3d90-4e88-a06e-e938b7f1c9b6","elementConfiguration":{"binding":"{{UserProfile.Department}}","visibility":"","type":"text","disableUpdates":false}},{"type":"shape","id":"50bcac18-bc09-4bfd-a03e-a918438f2568","elementConfiguration":{"binding":"{{Form.Title}}","visibility":"","type":"text","disableUpdates":false}},{"type":"shape","id":"3f2967ac-5798-4c72-b5bd-353602e77653","elementConfiguration":{"binding":"{{Form.Subtitle}}","visibility":"","type":"text","disableUpdates":false}},{"type":"shape","id":"5871fdfc-1616-482a-b92a-57a54a74cf93","elementConfiguration":{"binding":"{{UserProfile.DisplayName}}, {{UserProfile.JobTitle}}","visibility":"","type":"text","disableUpdates":false}},{"type":"shape","id":"f5a7761c-cf48-492a-9f48-35d6978b765b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87548106-368b-4e2a-8d17-87420d681e29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354f1681-864a-416c-8c71-142c22f890c7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9d9cd7d2-12ec-4c65-8c77-2a3d1eabdf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1b58bd7-7598-486e-9a89-256bb44d1248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,{"type":"shape","id":"da8acce6-7b5a-4867-be02-c453b958f46c","elementConfiguration":{"inheritDimensions":"{{InheritDimensions.InheritNone}}","width":"4.91 cm","height":"9.66 cm","image":"{{DataSources.PowerPointInstructions[\"Instructions\"].Image}}","visibility":"{{IfElse(Form.ShowPowerPointInstructions, VisibilityType.Visible, VisibilityType.Hidden)}}","type":"image","disableUpdates":false}}],"transformationConfigurations":[{"documentName":"TUe presentation {{StringJoin(\" \", Form.Title, Form.Subtitle)}}","type":"documentName"},{"language":"{{Form.Language.Language}}","disableUpdates":false,"type":"proofingLanguage"}],"templateName":"TUe 16x9 Dynamic","templateDescription":"","enableDocumentContentUpdater":true,"version":"2.0"}]]></TemplafyTemplateConfiguration>
</file>

<file path=customXml/itemProps1.xml><?xml version="1.0" encoding="utf-8"?>
<ds:datastoreItem xmlns:ds="http://schemas.openxmlformats.org/officeDocument/2006/customXml" ds:itemID="{3363B716-1B3F-4EF4-A645-2849D6A2A1C7}">
  <ds:schemaRefs/>
</ds:datastoreItem>
</file>

<file path=customXml/itemProps2.xml><?xml version="1.0" encoding="utf-8"?>
<ds:datastoreItem xmlns:ds="http://schemas.openxmlformats.org/officeDocument/2006/customXml" ds:itemID="{798BD6EC-9107-4563-AC4A-8434E9808CDB}">
  <ds:schemaRefs>
    <ds:schemaRef ds:uri="http://schemas.microsoft.com/office/2006/metadata/properties"/>
    <ds:schemaRef ds:uri="http://schemas.microsoft.com/office/infopath/2007/PartnerControls"/>
    <ds:schemaRef ds:uri="2f7262f3-19e3-4c38-834c-996e2cec5b6c"/>
    <ds:schemaRef ds:uri="6b2685c3-cb74-402e-89a3-cd359bd59e48"/>
    <ds:schemaRef ds:uri="adc81a03-33f5-430d-a427-dfbddb1fb524"/>
    <ds:schemaRef ds:uri="89addd5d-1b61-4a22-b114-f0fd8c2dcf23"/>
  </ds:schemaRefs>
</ds:datastoreItem>
</file>

<file path=customXml/itemProps3.xml><?xml version="1.0" encoding="utf-8"?>
<ds:datastoreItem xmlns:ds="http://schemas.openxmlformats.org/officeDocument/2006/customXml" ds:itemID="{3CEDE958-A289-4F43-AB16-8D80F6812CD1}">
  <ds:schemaRefs/>
</ds:datastoreItem>
</file>

<file path=customXml/itemProps4.xml><?xml version="1.0" encoding="utf-8"?>
<ds:datastoreItem xmlns:ds="http://schemas.openxmlformats.org/officeDocument/2006/customXml" ds:itemID="{FB08C246-4216-47B9-B943-2D4F1A392C3F}">
  <ds:schemaRefs/>
</ds:datastoreItem>
</file>

<file path=customXml/itemProps5.xml><?xml version="1.0" encoding="utf-8"?>
<ds:datastoreItem xmlns:ds="http://schemas.openxmlformats.org/officeDocument/2006/customXml" ds:itemID="{944185D8-EC9F-4A5A-93F0-FC5FEC52BA6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c81a03-33f5-430d-a427-dfbddb1fb524"/>
    <ds:schemaRef ds:uri="89addd5d-1b61-4a22-b114-f0fd8c2dcf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400AE978-C982-4764-8B5A-A9725C7AA005}">
  <ds:schemaRefs/>
</ds:datastoreItem>
</file>

<file path=customXml/itemProps7.xml><?xml version="1.0" encoding="utf-8"?>
<ds:datastoreItem xmlns:ds="http://schemas.openxmlformats.org/officeDocument/2006/customXml" ds:itemID="{30B7C04D-9D5F-4F98-B86E-9544BFD1410A}">
  <ds:schemaRefs>
    <ds:schemaRef ds:uri="http://schemas.microsoft.com/sharepoint/v3/contenttype/forms"/>
  </ds:schemaRefs>
</ds:datastoreItem>
</file>

<file path=customXml/itemProps8.xml><?xml version="1.0" encoding="utf-8"?>
<ds:datastoreItem xmlns:ds="http://schemas.openxmlformats.org/officeDocument/2006/customXml" ds:itemID="{1E4E5DBF-1B01-4344-9330-851E2AF998FF}">
  <ds:schemaRefs/>
</ds:datastoreItem>
</file>

<file path=customXml/itemProps9.xml><?xml version="1.0" encoding="utf-8"?>
<ds:datastoreItem xmlns:ds="http://schemas.openxmlformats.org/officeDocument/2006/customXml" ds:itemID="{9095741A-CCDF-4B58-ADBB-E7CDCD30ED4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Kantoorthema</Template>
  <TotalTime>14502</TotalTime>
  <Words>495</Words>
  <Application>Microsoft Macintosh PowerPoint</Application>
  <PresentationFormat>On-screen Show (16:9)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Kantoorthema</vt:lpstr>
      <vt:lpstr>PowerPoint Presentation</vt:lpstr>
      <vt:lpstr>Evolution of Systems Engineering</vt:lpstr>
      <vt:lpstr>MBSE Languages</vt:lpstr>
      <vt:lpstr>In 2013 NAVAIR Asked: the most advanced and holistic approach to MCE you use or have seen used?</vt:lpstr>
      <vt:lpstr>DoDs Digital Engineering 5 Strategic Goals</vt:lpstr>
      <vt:lpstr>MBSE in Healthcare</vt:lpstr>
      <vt:lpstr>PowerPoint Presentation</vt:lpstr>
      <vt:lpstr>Justification of MBSE Healthcare</vt:lpstr>
      <vt:lpstr>Where MBSE is used (and gaps)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25</cp:revision>
  <dcterms:created xsi:type="dcterms:W3CDTF">2025-12-18T10:00:57Z</dcterms:created>
  <dcterms:modified xsi:type="dcterms:W3CDTF">2026-02-19T21:08:47Z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0x01010033F465149FB9C5448C8CF5199B7F8DE2</vt:lpwstr>
  </property>
  <property fmtid="{D5CDD505-2E9C-101B-9397-08002B2CF9AE}" pid="3" name="MediaServiceImageTags">
    <vt:lpwstr/>
  </property>
  <property fmtid="{D5CDD505-2E9C-101B-9397-08002B2CF9AE}" pid="4" name="TemplafyTimeStamp">
    <vt:lpwstr>2023-11-09T15:52:52</vt:lpwstr>
  </property>
  <property fmtid="{D5CDD505-2E9C-101B-9397-08002B2CF9AE}" pid="5" name="TemplafyTenantId">
    <vt:lpwstr>tue</vt:lpwstr>
  </property>
  <property fmtid="{D5CDD505-2E9C-101B-9397-08002B2CF9AE}" pid="6" name="TemplafyTemplateId">
    <vt:lpwstr>773602689983971800</vt:lpwstr>
  </property>
  <property fmtid="{D5CDD505-2E9C-101B-9397-08002B2CF9AE}" pid="7" name="TemplafyUserProfileId">
    <vt:lpwstr>997763534791376972</vt:lpwstr>
  </property>
  <property fmtid="{D5CDD505-2E9C-101B-9397-08002B2CF9AE}" pid="8" name="TemplafyLanguageCode">
    <vt:lpwstr>nl-NL</vt:lpwstr>
  </property>
  <property fmtid="{D5CDD505-2E9C-101B-9397-08002B2CF9AE}" pid="9" name="TemplafyFromBlank">
    <vt:bool>false</vt:bool>
  </property>
</Properties>
</file>