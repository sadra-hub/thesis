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0"/>
  </p:sldMasterIdLst>
  <p:notesMasterIdLst>
    <p:notesMasterId r:id="rId26"/>
  </p:notesMasterIdLst>
  <p:sldIdLst>
    <p:sldId id="268" r:id="rId11"/>
    <p:sldId id="271" r:id="rId12"/>
    <p:sldId id="272" r:id="rId13"/>
    <p:sldId id="273" r:id="rId14"/>
    <p:sldId id="277" r:id="rId15"/>
    <p:sldId id="279" r:id="rId16"/>
    <p:sldId id="278" r:id="rId17"/>
    <p:sldId id="280" r:id="rId18"/>
    <p:sldId id="281" r:id="rId19"/>
    <p:sldId id="283" r:id="rId20"/>
    <p:sldId id="276" r:id="rId21"/>
    <p:sldId id="274" r:id="rId22"/>
    <p:sldId id="282" r:id="rId23"/>
    <p:sldId id="275" r:id="rId24"/>
    <p:sldId id="270" r:id="rId25"/>
  </p:sldIdLst>
  <p:sldSz cx="9144000" cy="5143500" type="screen16x9"/>
  <p:notesSz cx="6858000" cy="9144000"/>
  <p:defaultTextStyle>
    <a:defPPr>
      <a:defRPr lang="nl-NL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EEE8E8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702" autoAdjust="0"/>
    <p:restoredTop sz="96433" autoAdjust="0"/>
  </p:normalViewPr>
  <p:slideViewPr>
    <p:cSldViewPr snapToGrid="0" showGuides="1">
      <p:cViewPr>
        <p:scale>
          <a:sx n="128" d="100"/>
          <a:sy n="128" d="100"/>
        </p:scale>
        <p:origin x="1096" y="344"/>
      </p:cViewPr>
      <p:guideLst/>
    </p:cSldViewPr>
  </p:slideViewPr>
  <p:outlineViewPr>
    <p:cViewPr>
      <p:scale>
        <a:sx n="33" d="100"/>
        <a:sy n="33" d="100"/>
      </p:scale>
      <p:origin x="0" y="-3978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8.xml"/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1.xml"/><Relationship Id="rId7" Type="http://schemas.openxmlformats.org/officeDocument/2006/relationships/customXml" Target="../customXml/item7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openxmlformats.org/officeDocument/2006/relationships/slide" Target="slides/slide15.xml"/><Relationship Id="rId2" Type="http://schemas.openxmlformats.org/officeDocument/2006/relationships/customXml" Target="../customXml/item2.xml"/><Relationship Id="rId16" Type="http://schemas.openxmlformats.org/officeDocument/2006/relationships/slide" Target="slides/slide6.xml"/><Relationship Id="rId20" Type="http://schemas.openxmlformats.org/officeDocument/2006/relationships/slide" Target="slides/slide10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slide" Target="slides/slide1.xml"/><Relationship Id="rId24" Type="http://schemas.openxmlformats.org/officeDocument/2006/relationships/slide" Target="slides/slide14.xml"/><Relationship Id="rId5" Type="http://schemas.openxmlformats.org/officeDocument/2006/relationships/customXml" Target="../customXml/item5.xml"/><Relationship Id="rId15" Type="http://schemas.openxmlformats.org/officeDocument/2006/relationships/slide" Target="slides/slide5.xml"/><Relationship Id="rId23" Type="http://schemas.openxmlformats.org/officeDocument/2006/relationships/slide" Target="slides/slide13.xml"/><Relationship Id="rId28" Type="http://schemas.openxmlformats.org/officeDocument/2006/relationships/viewProps" Target="viewProps.xml"/><Relationship Id="rId10" Type="http://schemas.openxmlformats.org/officeDocument/2006/relationships/slideMaster" Target="slideMasters/slideMaster1.xml"/><Relationship Id="rId19" Type="http://schemas.openxmlformats.org/officeDocument/2006/relationships/slide" Target="slides/slide9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slide" Target="slides/slide4.xml"/><Relationship Id="rId22" Type="http://schemas.openxmlformats.org/officeDocument/2006/relationships/slide" Target="slides/slide12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F25DE2-B715-4EA4-8CF0-DA425EA806A7}" type="datetimeFigureOut">
              <a:rPr lang="en-GB" smtClean="0"/>
              <a:t>01/01/2026</a:t>
            </a:fld>
            <a:endParaRPr lang="en-GB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GB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799BBE-B871-48D7-983C-C0B1D7156D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3719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799BBE-B871-48D7-983C-C0B1D7156DCD}" type="slidenum">
              <a:rPr lang="en-GB" smtClean="0"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69191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Title at the top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 descr="{&quot;templafy&quot;:{&quot;id&quot;:&quot;0e5b527a-3d90-4e88-a06e-e938b7f1c9b6&quot;}}">
            <a:extLst>
              <a:ext uri="{FF2B5EF4-FFF2-40B4-BE49-F238E27FC236}">
                <a16:creationId xmlns:a16="http://schemas.microsoft.com/office/drawing/2014/main" id="{3A915C78-7D6E-1295-0948-C16B4CAD7BAC}"/>
              </a:ext>
            </a:extLst>
          </p:cNvPr>
          <p:cNvSpPr/>
          <p:nvPr userDrawn="1"/>
        </p:nvSpPr>
        <p:spPr>
          <a:xfrm>
            <a:off x="-1" y="4567500"/>
            <a:ext cx="9143999" cy="5813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0" rIns="1962000" bIns="0" rtlCol="0" anchor="ctr"/>
          <a:lstStyle/>
          <a:p>
            <a:pPr lvl="0"/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0" name="Black75"/>
          <p:cNvSpPr/>
          <p:nvPr userDrawn="1"/>
        </p:nvSpPr>
        <p:spPr>
          <a:xfrm>
            <a:off x="0" y="756000"/>
            <a:ext cx="9144000" cy="1080000"/>
          </a:xfrm>
          <a:prstGeom prst="rect">
            <a:avLst/>
          </a:prstGeom>
          <a:solidFill>
            <a:schemeClr val="tx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521D38FC-6D70-0146-84E1-32B3F0A2D64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40600" y="4568825"/>
            <a:ext cx="1803400" cy="574675"/>
          </a:xfrm>
          <a:prstGeom prst="rect">
            <a:avLst/>
          </a:prstGeom>
        </p:spPr>
      </p:pic>
      <p:sp>
        <p:nvSpPr>
          <p:cNvPr id="5" name="Rectangle 4" descr="{&quot;templafy&quot;:{&quot;id&quot;:&quot;50bcac18-bc09-4bfd-a03e-a918438f2568&quot;}}">
            <a:extLst>
              <a:ext uri="{FF2B5EF4-FFF2-40B4-BE49-F238E27FC236}">
                <a16:creationId xmlns:a16="http://schemas.microsoft.com/office/drawing/2014/main" id="{72504917-0F58-D488-C3C4-52C1BEFA8B7E}"/>
              </a:ext>
            </a:extLst>
          </p:cNvPr>
          <p:cNvSpPr/>
          <p:nvPr userDrawn="1"/>
        </p:nvSpPr>
        <p:spPr>
          <a:xfrm>
            <a:off x="1" y="754675"/>
            <a:ext cx="9143999" cy="790675"/>
          </a:xfrm>
          <a:prstGeom prst="rect">
            <a:avLst/>
          </a:prstGeom>
          <a:solidFill>
            <a:schemeClr val="tx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0" rIns="1962000" bIns="0" rtlCol="0" anchor="ctr"/>
          <a:lstStyle/>
          <a:p>
            <a:pPr marL="0" lvl="0" indent="0" algn="l" defTabSz="688975">
              <a:tabLst>
                <a:tab pos="3048000" algn="l"/>
              </a:tabLst>
            </a:pPr>
            <a:r>
              <a:rPr lang="en-US" sz="2200" b="1" dirty="0">
                <a:latin typeface="+mj-lt"/>
              </a:rPr>
              <a:t>[Title]</a:t>
            </a:r>
          </a:p>
        </p:txBody>
      </p:sp>
      <p:sp>
        <p:nvSpPr>
          <p:cNvPr id="6" name="Rectangle 5" descr="{&quot;templafy&quot;:{&quot;id&quot;:&quot;3f2967ac-5798-4c72-b5bd-353602e77653&quot;}}">
            <a:extLst>
              <a:ext uri="{FF2B5EF4-FFF2-40B4-BE49-F238E27FC236}">
                <a16:creationId xmlns:a16="http://schemas.microsoft.com/office/drawing/2014/main" id="{46DF2CC8-8F92-02D0-C277-1219471F7DED}"/>
              </a:ext>
            </a:extLst>
          </p:cNvPr>
          <p:cNvSpPr/>
          <p:nvPr userDrawn="1"/>
        </p:nvSpPr>
        <p:spPr>
          <a:xfrm>
            <a:off x="1" y="1545350"/>
            <a:ext cx="9143999" cy="288001"/>
          </a:xfrm>
          <a:prstGeom prst="rect">
            <a:avLst/>
          </a:prstGeom>
          <a:solidFill>
            <a:schemeClr val="tx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0" rIns="1962000" bIns="0" rtlCol="0" anchor="ctr"/>
          <a:lstStyle/>
          <a:p>
            <a:pPr marL="0" lvl="0" indent="0" algn="l" defTabSz="688975">
              <a:tabLst>
                <a:tab pos="3048000" algn="l"/>
              </a:tabLst>
            </a:pPr>
            <a:r>
              <a:rPr lang="en-US" sz="1000" b="1" dirty="0">
                <a:latin typeface="+mn-lt"/>
              </a:rPr>
              <a:t>[Subtitle or date]</a:t>
            </a:r>
          </a:p>
        </p:txBody>
      </p:sp>
      <p:sp>
        <p:nvSpPr>
          <p:cNvPr id="14" name="Rectangle 13" descr="{&quot;templafy&quot;:{&quot;id&quot;:&quot;5871fdfc-1616-482a-b92a-57a54a74cf93&quot;}}">
            <a:extLst>
              <a:ext uri="{FF2B5EF4-FFF2-40B4-BE49-F238E27FC236}">
                <a16:creationId xmlns:a16="http://schemas.microsoft.com/office/drawing/2014/main" id="{55166E2C-6BB2-63E0-6516-08C074E0A386}"/>
              </a:ext>
            </a:extLst>
          </p:cNvPr>
          <p:cNvSpPr/>
          <p:nvPr userDrawn="1"/>
        </p:nvSpPr>
        <p:spPr>
          <a:xfrm>
            <a:off x="-6667" y="3993487"/>
            <a:ext cx="9143999" cy="574676"/>
          </a:xfrm>
          <a:prstGeom prst="rect">
            <a:avLst/>
          </a:prstGeom>
          <a:solidFill>
            <a:schemeClr val="tx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0" rIns="1962000" bIns="0" rtlCol="0" anchor="ctr"/>
          <a:lstStyle/>
          <a:p>
            <a:pPr marL="0" lvl="0" indent="0" algn="l" defTabSz="688975">
              <a:tabLst>
                <a:tab pos="3048000" algn="l"/>
              </a:tabLst>
            </a:pPr>
            <a:r>
              <a:rPr lang="en-US" sz="1100" b="1" dirty="0">
                <a:latin typeface="+mn-lt"/>
              </a:rPr>
              <a:t>[Owner]</a:t>
            </a:r>
          </a:p>
        </p:txBody>
      </p:sp>
    </p:spTree>
    <p:extLst>
      <p:ext uri="{BB962C8B-B14F-4D97-AF65-F5344CB8AC3E}">
        <p14:creationId xmlns:p14="http://schemas.microsoft.com/office/powerpoint/2010/main" val="1644222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Title in the midd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lack75"/>
          <p:cNvSpPr/>
          <p:nvPr userDrawn="1"/>
        </p:nvSpPr>
        <p:spPr>
          <a:xfrm>
            <a:off x="0" y="1836000"/>
            <a:ext cx="9144000" cy="1080000"/>
          </a:xfrm>
          <a:prstGeom prst="rect">
            <a:avLst/>
          </a:prstGeom>
          <a:solidFill>
            <a:schemeClr val="tx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521D38FC-6D70-0146-84E1-32B3F0A2D64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40600" y="4568825"/>
            <a:ext cx="1803400" cy="574675"/>
          </a:xfrm>
          <a:prstGeom prst="rect">
            <a:avLst/>
          </a:prstGeom>
        </p:spPr>
      </p:pic>
      <p:sp>
        <p:nvSpPr>
          <p:cNvPr id="15" name="Rectangle 14" descr="{&quot;templafy&quot;:{&quot;id&quot;:&quot;9c7a5cb5-8144-4203-97c6-a0d35d233a00&quot;}}">
            <a:extLst>
              <a:ext uri="{FF2B5EF4-FFF2-40B4-BE49-F238E27FC236}">
                <a16:creationId xmlns:a16="http://schemas.microsoft.com/office/drawing/2014/main" id="{EF27D3DC-827E-B7E1-41BB-32667AD73885}"/>
              </a:ext>
            </a:extLst>
          </p:cNvPr>
          <p:cNvSpPr/>
          <p:nvPr userDrawn="1"/>
        </p:nvSpPr>
        <p:spPr>
          <a:xfrm>
            <a:off x="-1" y="4567500"/>
            <a:ext cx="9143999" cy="5813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0" rIns="1962000" bIns="0" rtlCol="0" anchor="ctr"/>
          <a:lstStyle/>
          <a:p>
            <a:pPr lvl="0"/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6" name="Rectangle 15" descr="{&quot;templafy&quot;:{&quot;id&quot;:&quot;436d1937-4d56-4636-aae6-ee6b855a9e92&quot;}}">
            <a:extLst>
              <a:ext uri="{FF2B5EF4-FFF2-40B4-BE49-F238E27FC236}">
                <a16:creationId xmlns:a16="http://schemas.microsoft.com/office/drawing/2014/main" id="{622B89E9-6ADB-FD59-9BA3-5B4FA0249F84}"/>
              </a:ext>
            </a:extLst>
          </p:cNvPr>
          <p:cNvSpPr/>
          <p:nvPr userDrawn="1"/>
        </p:nvSpPr>
        <p:spPr>
          <a:xfrm>
            <a:off x="-6667" y="3993487"/>
            <a:ext cx="9143999" cy="574676"/>
          </a:xfrm>
          <a:prstGeom prst="rect">
            <a:avLst/>
          </a:prstGeom>
          <a:solidFill>
            <a:schemeClr val="tx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0" rIns="1962000" bIns="0" rtlCol="0" anchor="ctr"/>
          <a:lstStyle/>
          <a:p>
            <a:pPr marL="0" lvl="0" indent="0" algn="l" defTabSz="688975">
              <a:tabLst>
                <a:tab pos="3048000" algn="l"/>
              </a:tabLst>
            </a:pPr>
            <a:r>
              <a:rPr lang="en-US" sz="1100" b="1" dirty="0">
                <a:latin typeface="+mn-lt"/>
              </a:rPr>
              <a:t>[Owner]</a:t>
            </a:r>
          </a:p>
        </p:txBody>
      </p:sp>
      <p:sp>
        <p:nvSpPr>
          <p:cNvPr id="17" name="Rectangle 16" descr="{&quot;templafy&quot;:{&quot;id&quot;:&quot;9cb4fe64-f1f7-4586-bb2d-6aedacc7ca68&quot;}}">
            <a:extLst>
              <a:ext uri="{FF2B5EF4-FFF2-40B4-BE49-F238E27FC236}">
                <a16:creationId xmlns:a16="http://schemas.microsoft.com/office/drawing/2014/main" id="{A2B0419A-D8EF-AF6A-C5AA-614FA8DA7382}"/>
              </a:ext>
            </a:extLst>
          </p:cNvPr>
          <p:cNvSpPr/>
          <p:nvPr userDrawn="1"/>
        </p:nvSpPr>
        <p:spPr>
          <a:xfrm>
            <a:off x="1" y="1837724"/>
            <a:ext cx="9143999" cy="790675"/>
          </a:xfrm>
          <a:prstGeom prst="rect">
            <a:avLst/>
          </a:prstGeom>
          <a:solidFill>
            <a:schemeClr val="tx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0" rIns="1962000" bIns="0" rtlCol="0" anchor="ctr"/>
          <a:lstStyle/>
          <a:p>
            <a:pPr marL="0" lvl="0" indent="0" algn="l" defTabSz="688975">
              <a:tabLst>
                <a:tab pos="3048000" algn="l"/>
              </a:tabLst>
            </a:pPr>
            <a:r>
              <a:rPr lang="en-US" sz="2200" b="1" dirty="0">
                <a:latin typeface="+mj-lt"/>
              </a:rPr>
              <a:t>[Title]</a:t>
            </a:r>
          </a:p>
        </p:txBody>
      </p:sp>
      <p:sp>
        <p:nvSpPr>
          <p:cNvPr id="18" name="Rectangle 17" descr="{&quot;templafy&quot;:{&quot;id&quot;:&quot;8676d802-0bb3-4be6-a485-a42ca1296321&quot;}}">
            <a:extLst>
              <a:ext uri="{FF2B5EF4-FFF2-40B4-BE49-F238E27FC236}">
                <a16:creationId xmlns:a16="http://schemas.microsoft.com/office/drawing/2014/main" id="{EDA61324-A70A-DAD9-794B-665557D014A1}"/>
              </a:ext>
            </a:extLst>
          </p:cNvPr>
          <p:cNvSpPr/>
          <p:nvPr userDrawn="1"/>
        </p:nvSpPr>
        <p:spPr>
          <a:xfrm>
            <a:off x="1" y="2628399"/>
            <a:ext cx="9143999" cy="288001"/>
          </a:xfrm>
          <a:prstGeom prst="rect">
            <a:avLst/>
          </a:prstGeom>
          <a:solidFill>
            <a:schemeClr val="tx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0" rIns="1962000" bIns="0" rtlCol="0" anchor="ctr"/>
          <a:lstStyle/>
          <a:p>
            <a:pPr marL="0" lvl="0" indent="0" algn="l" defTabSz="688975">
              <a:tabLst>
                <a:tab pos="3048000" algn="l"/>
              </a:tabLst>
            </a:pPr>
            <a:r>
              <a:rPr lang="en-US" sz="1000" b="1" dirty="0">
                <a:latin typeface="+mn-lt"/>
              </a:rPr>
              <a:t>[Subtitle or date]</a:t>
            </a:r>
          </a:p>
        </p:txBody>
      </p:sp>
    </p:spTree>
    <p:extLst>
      <p:ext uri="{BB962C8B-B14F-4D97-AF65-F5344CB8AC3E}">
        <p14:creationId xmlns:p14="http://schemas.microsoft.com/office/powerpoint/2010/main" val="2931105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Title at th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lack75"/>
          <p:cNvSpPr/>
          <p:nvPr userDrawn="1"/>
        </p:nvSpPr>
        <p:spPr>
          <a:xfrm>
            <a:off x="0" y="2916000"/>
            <a:ext cx="9144000" cy="1080000"/>
          </a:xfrm>
          <a:prstGeom prst="rect">
            <a:avLst/>
          </a:prstGeom>
          <a:solidFill>
            <a:schemeClr val="tx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521D38FC-6D70-0146-84E1-32B3F0A2D64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40600" y="4568825"/>
            <a:ext cx="1803400" cy="574675"/>
          </a:xfrm>
          <a:prstGeom prst="rect">
            <a:avLst/>
          </a:prstGeom>
        </p:spPr>
      </p:pic>
      <p:sp>
        <p:nvSpPr>
          <p:cNvPr id="16" name="Rectangle 15" descr="{&quot;templafy&quot;:{&quot;id&quot;:&quot;a319365d-1bdc-4cd5-8217-d38f95588f33&quot;}}">
            <a:extLst>
              <a:ext uri="{FF2B5EF4-FFF2-40B4-BE49-F238E27FC236}">
                <a16:creationId xmlns:a16="http://schemas.microsoft.com/office/drawing/2014/main" id="{C51ED843-127C-30BA-85DB-FDA76ABBF883}"/>
              </a:ext>
            </a:extLst>
          </p:cNvPr>
          <p:cNvSpPr/>
          <p:nvPr userDrawn="1"/>
        </p:nvSpPr>
        <p:spPr>
          <a:xfrm>
            <a:off x="-1" y="4567500"/>
            <a:ext cx="9143999" cy="5813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0" rIns="1962000" bIns="0" rtlCol="0" anchor="ctr"/>
          <a:lstStyle/>
          <a:p>
            <a:pPr lvl="0"/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7" name="Rectangle 16" descr="{&quot;templafy&quot;:{&quot;id&quot;:&quot;82753c11-9c27-4ae5-95f8-efe8694ad8e6&quot;}}">
            <a:extLst>
              <a:ext uri="{FF2B5EF4-FFF2-40B4-BE49-F238E27FC236}">
                <a16:creationId xmlns:a16="http://schemas.microsoft.com/office/drawing/2014/main" id="{203F9367-093B-506B-B9C1-31FF47E06A2A}"/>
              </a:ext>
            </a:extLst>
          </p:cNvPr>
          <p:cNvSpPr/>
          <p:nvPr userDrawn="1"/>
        </p:nvSpPr>
        <p:spPr>
          <a:xfrm>
            <a:off x="-6667" y="3993487"/>
            <a:ext cx="9143999" cy="574676"/>
          </a:xfrm>
          <a:prstGeom prst="rect">
            <a:avLst/>
          </a:prstGeom>
          <a:solidFill>
            <a:schemeClr val="tx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0" rIns="1962000" bIns="0" rtlCol="0" anchor="ctr"/>
          <a:lstStyle/>
          <a:p>
            <a:pPr marL="0" lvl="0" indent="0" algn="l" defTabSz="688975">
              <a:tabLst>
                <a:tab pos="3048000" algn="l"/>
              </a:tabLst>
            </a:pPr>
            <a:r>
              <a:rPr lang="en-US" sz="1100" b="1" dirty="0">
                <a:latin typeface="+mn-lt"/>
              </a:rPr>
              <a:t>Sadra Moosavi Lar - 2139901</a:t>
            </a:r>
          </a:p>
        </p:txBody>
      </p:sp>
      <p:sp>
        <p:nvSpPr>
          <p:cNvPr id="18" name="Rectangle 17" descr="{&quot;templafy&quot;:{&quot;id&quot;:&quot;f968fff4-206d-4ae2-bcd1-8dde7376f40f&quot;}}">
            <a:extLst>
              <a:ext uri="{FF2B5EF4-FFF2-40B4-BE49-F238E27FC236}">
                <a16:creationId xmlns:a16="http://schemas.microsoft.com/office/drawing/2014/main" id="{9D303C58-72C0-6292-B9C6-E0F1B06AD4EC}"/>
              </a:ext>
            </a:extLst>
          </p:cNvPr>
          <p:cNvSpPr/>
          <p:nvPr userDrawn="1"/>
        </p:nvSpPr>
        <p:spPr>
          <a:xfrm>
            <a:off x="6668" y="2909511"/>
            <a:ext cx="9143999" cy="790675"/>
          </a:xfrm>
          <a:prstGeom prst="rect">
            <a:avLst/>
          </a:prstGeom>
          <a:solidFill>
            <a:schemeClr val="tx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0" rIns="1962000" bIns="0" rtlCol="0" anchor="ctr"/>
          <a:lstStyle/>
          <a:p>
            <a:pPr marL="0" lvl="0" indent="0" algn="l" defTabSz="688975">
              <a:tabLst>
                <a:tab pos="3048000" algn="l"/>
              </a:tabLst>
            </a:pPr>
            <a:r>
              <a:rPr lang="en-US" sz="2200" b="1" dirty="0">
                <a:latin typeface="+mj-lt"/>
              </a:rPr>
              <a:t>Progress Report on Thesis </a:t>
            </a:r>
          </a:p>
        </p:txBody>
      </p:sp>
      <p:sp>
        <p:nvSpPr>
          <p:cNvPr id="19" name="Rectangle 18" descr="{&quot;templafy&quot;:{&quot;id&quot;:&quot;d5e4e40c-3f52-44bb-bd94-0c2e857cdb17&quot;}}">
            <a:extLst>
              <a:ext uri="{FF2B5EF4-FFF2-40B4-BE49-F238E27FC236}">
                <a16:creationId xmlns:a16="http://schemas.microsoft.com/office/drawing/2014/main" id="{AAFBC4FF-0C69-5557-BB41-080973EEE5A3}"/>
              </a:ext>
            </a:extLst>
          </p:cNvPr>
          <p:cNvSpPr/>
          <p:nvPr userDrawn="1"/>
        </p:nvSpPr>
        <p:spPr>
          <a:xfrm>
            <a:off x="6668" y="3700186"/>
            <a:ext cx="9143999" cy="288001"/>
          </a:xfrm>
          <a:prstGeom prst="rect">
            <a:avLst/>
          </a:prstGeom>
          <a:solidFill>
            <a:schemeClr val="tx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0" rIns="1962000" bIns="0" rtlCol="0" anchor="ctr"/>
          <a:lstStyle/>
          <a:p>
            <a:pPr marL="0" lvl="0" indent="0" algn="l" defTabSz="688975">
              <a:tabLst>
                <a:tab pos="3048000" algn="l"/>
              </a:tabLst>
            </a:pPr>
            <a:fld id="{1A603C3A-77C1-0940-9355-EF960D2C4525}" type="datetime3">
              <a:rPr lang="en-US" sz="1000" b="1" smtClean="0">
                <a:latin typeface="+mn-lt"/>
              </a:rPr>
              <a:t>1 January 2026</a:t>
            </a:fld>
            <a:endParaRPr lang="en-US" sz="10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3749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6443" y="518711"/>
            <a:ext cx="7556500" cy="539038"/>
          </a:xfrm>
        </p:spPr>
        <p:txBody>
          <a:bodyPr/>
          <a:lstStyle/>
          <a:p>
            <a:r>
              <a:rPr lang="en-US" dirty="0"/>
              <a:t>This is an example of a 27 </a:t>
            </a:r>
            <a:r>
              <a:rPr lang="en-US" dirty="0" err="1"/>
              <a:t>pt</a:t>
            </a:r>
            <a:r>
              <a:rPr lang="en-US" dirty="0"/>
              <a:t> headline with 27 </a:t>
            </a:r>
            <a:r>
              <a:rPr lang="en-US" dirty="0" err="1"/>
              <a:t>pt</a:t>
            </a:r>
            <a:r>
              <a:rPr lang="en-US" dirty="0"/>
              <a:t> line spacing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56443" y="1294737"/>
            <a:ext cx="7556501" cy="2922458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 dirty="0"/>
              <a:t>Click to enter text</a:t>
            </a:r>
            <a:endParaRPr lang="en-US"/>
          </a:p>
          <a:p>
            <a:pPr lvl="1"/>
            <a:r>
              <a:rPr lang="en-US" dirty="0" err="1"/>
              <a:t>Tweede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2"/>
            <a:r>
              <a:rPr lang="en-US" dirty="0" err="1"/>
              <a:t>Derde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3"/>
            <a:r>
              <a:rPr lang="en-US" dirty="0" err="1"/>
              <a:t>Vierde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4"/>
            <a:r>
              <a:rPr lang="en-US" dirty="0" err="1"/>
              <a:t>Vijfde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</p:txBody>
      </p:sp>
      <p:pic>
        <p:nvPicPr>
          <p:cNvPr id="212861902" name="Rectangle 20" descr="{&quot;templafy&quot;:{&quot;id&quot;:&quot;da8acce6-7b5a-4867-be02-c453b958f46c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18082" y="1307797"/>
            <a:ext cx="1767600" cy="347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838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slide -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5650" y="585793"/>
            <a:ext cx="3595688" cy="732238"/>
          </a:xfrm>
        </p:spPr>
        <p:txBody>
          <a:bodyPr/>
          <a:lstStyle>
            <a:lvl1pPr>
              <a:lnSpc>
                <a:spcPct val="100000"/>
              </a:lnSpc>
              <a:defRPr sz="1950" b="0" baseline="0"/>
            </a:lvl1pPr>
          </a:lstStyle>
          <a:p>
            <a:r>
              <a:rPr lang="en-US" dirty="0"/>
              <a:t>This is an example of 19,5 </a:t>
            </a:r>
            <a:r>
              <a:rPr lang="en-US" dirty="0" err="1"/>
              <a:t>pt</a:t>
            </a:r>
            <a:r>
              <a:rPr lang="en-US" dirty="0"/>
              <a:t> text with single line spacing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755650" y="1295401"/>
            <a:ext cx="3598863" cy="29337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enter text</a:t>
            </a:r>
            <a:endParaRPr lang="en-US"/>
          </a:p>
          <a:p>
            <a:pPr lvl="1"/>
            <a:r>
              <a:rPr lang="en-US" dirty="0" err="1"/>
              <a:t>Tweede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2"/>
            <a:r>
              <a:rPr lang="en-US" dirty="0" err="1"/>
              <a:t>Derde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3"/>
            <a:r>
              <a:rPr lang="en-US" dirty="0" err="1"/>
              <a:t>Vierde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4"/>
            <a:r>
              <a:rPr lang="en-US" dirty="0" err="1"/>
              <a:t>Vijfde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723606" y="1296000"/>
            <a:ext cx="3595688" cy="2933101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enter text</a:t>
            </a:r>
            <a:endParaRPr lang="en-US"/>
          </a:p>
          <a:p>
            <a:pPr lvl="1"/>
            <a:r>
              <a:rPr lang="en-US" dirty="0" err="1"/>
              <a:t>Tweede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2"/>
            <a:r>
              <a:rPr lang="en-US" dirty="0" err="1"/>
              <a:t>Derde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3"/>
            <a:r>
              <a:rPr lang="en-US" dirty="0" err="1"/>
              <a:t>Vierde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4"/>
            <a:r>
              <a:rPr lang="en-US" dirty="0" err="1"/>
              <a:t>Vijfde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4714875" y="586800"/>
            <a:ext cx="3604419" cy="732238"/>
          </a:xfrm>
        </p:spPr>
        <p:txBody>
          <a:bodyPr anchor="t"/>
          <a:lstStyle>
            <a:lvl1pPr marL="0" indent="0">
              <a:buNone/>
              <a:defRPr lang="nl-NL" sz="1950" b="0" kern="120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enter text</a:t>
            </a:r>
            <a:endParaRPr lang="en-US"/>
          </a:p>
        </p:txBody>
      </p:sp>
      <p:pic>
        <p:nvPicPr>
          <p:cNvPr id="918533759" name="Rectangle 7" descr="{&quot;templafy&quot;:{&quot;id&quot;:&quot;354f1681-864a-416c-8c71-142c22f890c7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18082" y="1307797"/>
            <a:ext cx="1767600" cy="347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407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text - 1/2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6000" y="586800"/>
            <a:ext cx="3600000" cy="732238"/>
          </a:xfrm>
        </p:spPr>
        <p:txBody>
          <a:bodyPr/>
          <a:lstStyle>
            <a:lvl1pPr>
              <a:lnSpc>
                <a:spcPct val="100000"/>
              </a:lnSpc>
              <a:defRPr sz="1950" b="0" baseline="0"/>
            </a:lvl1pPr>
          </a:lstStyle>
          <a:p>
            <a:r>
              <a:rPr lang="en-US" dirty="0"/>
              <a:t>This is an example of 19,5 </a:t>
            </a:r>
            <a:r>
              <a:rPr lang="en-US" dirty="0" err="1"/>
              <a:t>pt</a:t>
            </a:r>
            <a:r>
              <a:rPr lang="en-US" dirty="0"/>
              <a:t> text with single line spacing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755650" y="1295401"/>
            <a:ext cx="3598863" cy="29337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enter text</a:t>
            </a:r>
            <a:endParaRPr lang="en-US"/>
          </a:p>
          <a:p>
            <a:pPr lvl="1"/>
            <a:r>
              <a:rPr lang="en-US" dirty="0" err="1"/>
              <a:t>Tweede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2"/>
            <a:r>
              <a:rPr lang="en-US" dirty="0" err="1"/>
              <a:t>Derde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3"/>
            <a:r>
              <a:rPr lang="en-US" dirty="0" err="1"/>
              <a:t>Vierde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4"/>
            <a:r>
              <a:rPr lang="en-US" dirty="0" err="1"/>
              <a:t>Vijfde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</p:txBody>
      </p:sp>
      <p:sp>
        <p:nvSpPr>
          <p:cNvPr id="10" name="Tijdelijke aanduiding voor afbeelding 9"/>
          <p:cNvSpPr>
            <a:spLocks noGrp="1"/>
          </p:cNvSpPr>
          <p:nvPr>
            <p:ph type="pic" sz="quarter" idx="13" hasCustomPrompt="1"/>
          </p:nvPr>
        </p:nvSpPr>
        <p:spPr>
          <a:xfrm>
            <a:off x="4714875" y="0"/>
            <a:ext cx="4429125" cy="456723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insert image</a:t>
            </a:r>
            <a:endParaRPr lang="en-US"/>
          </a:p>
        </p:txBody>
      </p:sp>
      <p:pic>
        <p:nvPicPr>
          <p:cNvPr id="405019404" name="Rectangle 3" descr="{&quot;templafy&quot;:{&quot;id&quot;:&quot;f5a7761c-cf48-492a-9f48-35d6978b765b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18082" y="1307797"/>
            <a:ext cx="1767600" cy="347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543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/3 text - 1/3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6000" y="586800"/>
            <a:ext cx="4910138" cy="732238"/>
          </a:xfrm>
        </p:spPr>
        <p:txBody>
          <a:bodyPr/>
          <a:lstStyle>
            <a:lvl1pPr>
              <a:lnSpc>
                <a:spcPct val="100000"/>
              </a:lnSpc>
              <a:defRPr sz="1950" b="0" baseline="0"/>
            </a:lvl1pPr>
          </a:lstStyle>
          <a:p>
            <a:r>
              <a:rPr lang="en-US" dirty="0"/>
              <a:t>This is an example of 19,5 </a:t>
            </a:r>
            <a:r>
              <a:rPr lang="en-US" dirty="0" err="1"/>
              <a:t>pt</a:t>
            </a:r>
            <a:r>
              <a:rPr lang="en-US" dirty="0"/>
              <a:t> text with single line spacing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755650" y="1295401"/>
            <a:ext cx="4913313" cy="29337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enter text</a:t>
            </a:r>
            <a:endParaRPr lang="en-US"/>
          </a:p>
          <a:p>
            <a:pPr lvl="1"/>
            <a:r>
              <a:rPr lang="en-US" dirty="0" err="1"/>
              <a:t>Tweede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2"/>
            <a:r>
              <a:rPr lang="en-US" dirty="0" err="1"/>
              <a:t>Derde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3"/>
            <a:r>
              <a:rPr lang="en-US" dirty="0" err="1"/>
              <a:t>Vierde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4"/>
            <a:r>
              <a:rPr lang="en-US" dirty="0" err="1"/>
              <a:t>Vijfde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</p:txBody>
      </p:sp>
      <p:sp>
        <p:nvSpPr>
          <p:cNvPr id="10" name="Tijdelijke aanduiding voor afbeelding 9"/>
          <p:cNvSpPr>
            <a:spLocks noGrp="1"/>
          </p:cNvSpPr>
          <p:nvPr>
            <p:ph type="pic" sz="quarter" idx="13" hasCustomPrompt="1"/>
          </p:nvPr>
        </p:nvSpPr>
        <p:spPr>
          <a:xfrm>
            <a:off x="6046788" y="0"/>
            <a:ext cx="3097212" cy="456723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insert image</a:t>
            </a:r>
            <a:endParaRPr lang="en-US"/>
          </a:p>
        </p:txBody>
      </p:sp>
      <p:pic>
        <p:nvPicPr>
          <p:cNvPr id="1066865196" name="Rectangle 3" descr="{&quot;templafy&quot;:{&quot;id&quot;:&quot;dabe0df5-77b0-4bb4-8e04-2c5ab0300a38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18082" y="1307797"/>
            <a:ext cx="1767600" cy="347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405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+ image/movie 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wrap="none"/>
          <a:lstStyle/>
          <a:p>
            <a:r>
              <a:rPr lang="en-US" dirty="0"/>
              <a:t>This is an example of a 27 </a:t>
            </a:r>
            <a:r>
              <a:rPr lang="en-US" dirty="0" err="1"/>
              <a:t>pt</a:t>
            </a:r>
            <a:r>
              <a:rPr lang="en-US" dirty="0"/>
              <a:t> headline</a:t>
            </a:r>
            <a:endParaRPr lang="en-US"/>
          </a:p>
        </p:txBody>
      </p:sp>
      <p:sp>
        <p:nvSpPr>
          <p:cNvPr id="10" name="Tijdelijke aanduiding voor inhoud 9"/>
          <p:cNvSpPr>
            <a:spLocks noGrp="1" noChangeAspect="1"/>
          </p:cNvSpPr>
          <p:nvPr>
            <p:ph sz="quarter" idx="13" hasCustomPrompt="1"/>
          </p:nvPr>
        </p:nvSpPr>
        <p:spPr>
          <a:xfrm>
            <a:off x="1889125" y="1079501"/>
            <a:ext cx="5292725" cy="2977200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 dirty="0"/>
              <a:t>Click icon to insert 16x9 image or movie</a:t>
            </a:r>
            <a:endParaRPr lang="en-US"/>
          </a:p>
        </p:txBody>
      </p:sp>
      <p:sp>
        <p:nvSpPr>
          <p:cNvPr id="12" name="Tijdelijke aanduiding voor tekst 11"/>
          <p:cNvSpPr>
            <a:spLocks noGrp="1"/>
          </p:cNvSpPr>
          <p:nvPr>
            <p:ph type="body" sz="quarter" idx="14" hasCustomPrompt="1"/>
          </p:nvPr>
        </p:nvSpPr>
        <p:spPr>
          <a:xfrm>
            <a:off x="1889125" y="4106268"/>
            <a:ext cx="5292725" cy="165100"/>
          </a:xfrm>
        </p:spPr>
        <p:txBody>
          <a:bodyPr/>
          <a:lstStyle>
            <a:lvl1pPr>
              <a:defRPr sz="1100" i="1"/>
            </a:lvl1pPr>
          </a:lstStyle>
          <a:p>
            <a:pPr lvl="0"/>
            <a:r>
              <a:rPr lang="en-US" dirty="0"/>
              <a:t>Click to insert Caption under image or movie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494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A 27pt headline on a slide with three images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58824" y="1306642"/>
            <a:ext cx="2084389" cy="636458"/>
          </a:xfrm>
        </p:spPr>
        <p:txBody>
          <a:bodyPr/>
          <a:lstStyle>
            <a:lvl1pPr>
              <a:defRPr sz="1650"/>
            </a:lvl1pPr>
          </a:lstStyle>
          <a:p>
            <a:pPr lvl="0"/>
            <a:r>
              <a:rPr lang="en-US" dirty="0"/>
              <a:t>Click to enter text</a:t>
            </a:r>
            <a:endParaRPr lang="en-US"/>
          </a:p>
        </p:txBody>
      </p:sp>
      <p:sp>
        <p:nvSpPr>
          <p:cNvPr id="7" name="Content Placeholder 2"/>
          <p:cNvSpPr>
            <a:spLocks noGrp="1"/>
          </p:cNvSpPr>
          <p:nvPr>
            <p:ph idx="13" hasCustomPrompt="1"/>
          </p:nvPr>
        </p:nvSpPr>
        <p:spPr>
          <a:xfrm>
            <a:off x="3490913" y="1302661"/>
            <a:ext cx="2084389" cy="636458"/>
          </a:xfrm>
        </p:spPr>
        <p:txBody>
          <a:bodyPr/>
          <a:lstStyle>
            <a:lvl1pPr>
              <a:defRPr sz="1650"/>
            </a:lvl1pPr>
          </a:lstStyle>
          <a:p>
            <a:pPr lvl="0"/>
            <a:r>
              <a:rPr lang="en-US" dirty="0"/>
              <a:t>Click to enter text</a:t>
            </a:r>
            <a:endParaRPr lang="en-US"/>
          </a:p>
        </p:txBody>
      </p:sp>
      <p:sp>
        <p:nvSpPr>
          <p:cNvPr id="8" name="Content Placeholder 2"/>
          <p:cNvSpPr>
            <a:spLocks noGrp="1"/>
          </p:cNvSpPr>
          <p:nvPr>
            <p:ph idx="14" hasCustomPrompt="1"/>
          </p:nvPr>
        </p:nvSpPr>
        <p:spPr>
          <a:xfrm>
            <a:off x="6235414" y="1302661"/>
            <a:ext cx="2084389" cy="636458"/>
          </a:xfrm>
        </p:spPr>
        <p:txBody>
          <a:bodyPr/>
          <a:lstStyle>
            <a:lvl1pPr>
              <a:defRPr sz="1650"/>
            </a:lvl1pPr>
          </a:lstStyle>
          <a:p>
            <a:pPr lvl="0"/>
            <a:r>
              <a:rPr lang="en-US" dirty="0"/>
              <a:t>Click to enter text</a:t>
            </a:r>
            <a:endParaRPr lang="en-US"/>
          </a:p>
        </p:txBody>
      </p:sp>
      <p:sp>
        <p:nvSpPr>
          <p:cNvPr id="10" name="Tijdelijke aanduiding voor afbeelding 9"/>
          <p:cNvSpPr>
            <a:spLocks noGrp="1"/>
          </p:cNvSpPr>
          <p:nvPr>
            <p:ph type="pic" sz="quarter" idx="15" hasCustomPrompt="1"/>
          </p:nvPr>
        </p:nvSpPr>
        <p:spPr>
          <a:xfrm>
            <a:off x="755650" y="1943101"/>
            <a:ext cx="2087563" cy="2625298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insert image</a:t>
            </a:r>
            <a:endParaRPr lang="en-US"/>
          </a:p>
        </p:txBody>
      </p:sp>
      <p:sp>
        <p:nvSpPr>
          <p:cNvPr id="11" name="Tijdelijke aanduiding voor afbeelding 9"/>
          <p:cNvSpPr>
            <a:spLocks noGrp="1"/>
          </p:cNvSpPr>
          <p:nvPr>
            <p:ph type="pic" sz="quarter" idx="16" hasCustomPrompt="1"/>
          </p:nvPr>
        </p:nvSpPr>
        <p:spPr>
          <a:xfrm>
            <a:off x="3487739" y="1943101"/>
            <a:ext cx="2087563" cy="2625298"/>
          </a:xfr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insert image</a:t>
            </a:r>
            <a:endParaRPr lang="en-US"/>
          </a:p>
          <a:p>
            <a:endParaRPr lang="en-US" dirty="0"/>
          </a:p>
        </p:txBody>
      </p:sp>
      <p:sp>
        <p:nvSpPr>
          <p:cNvPr id="12" name="Tijdelijke aanduiding voor afbeelding 9"/>
          <p:cNvSpPr>
            <a:spLocks noGrp="1"/>
          </p:cNvSpPr>
          <p:nvPr>
            <p:ph type="pic" sz="quarter" idx="17" hasCustomPrompt="1"/>
          </p:nvPr>
        </p:nvSpPr>
        <p:spPr>
          <a:xfrm>
            <a:off x="6235414" y="1943101"/>
            <a:ext cx="2087563" cy="2625298"/>
          </a:xfr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insert image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9201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image - 1/2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723518" y="586800"/>
            <a:ext cx="3600000" cy="732238"/>
          </a:xfrm>
        </p:spPr>
        <p:txBody>
          <a:bodyPr/>
          <a:lstStyle>
            <a:lvl1pPr>
              <a:lnSpc>
                <a:spcPct val="100000"/>
              </a:lnSpc>
              <a:defRPr sz="1950" b="0" baseline="0"/>
            </a:lvl1pPr>
          </a:lstStyle>
          <a:p>
            <a:r>
              <a:rPr lang="en-US" dirty="0"/>
              <a:t>This is an example of 19,5 </a:t>
            </a:r>
            <a:r>
              <a:rPr lang="en-US" dirty="0" err="1"/>
              <a:t>pt</a:t>
            </a:r>
            <a:r>
              <a:rPr lang="en-US" dirty="0"/>
              <a:t> text with single line spacing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720343" y="1295401"/>
            <a:ext cx="3598863" cy="29337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enter text</a:t>
            </a:r>
            <a:endParaRPr lang="en-US"/>
          </a:p>
          <a:p>
            <a:pPr lvl="1"/>
            <a:r>
              <a:rPr lang="en-US" dirty="0" err="1"/>
              <a:t>Tweede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2"/>
            <a:r>
              <a:rPr lang="en-US" dirty="0" err="1"/>
              <a:t>Derde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3"/>
            <a:r>
              <a:rPr lang="en-US" dirty="0" err="1"/>
              <a:t>Vierde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4"/>
            <a:r>
              <a:rPr lang="en-US" dirty="0" err="1"/>
              <a:t>Vijfde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</p:txBody>
      </p:sp>
      <p:sp>
        <p:nvSpPr>
          <p:cNvPr id="10" name="Tijdelijke aanduiding voor afbeelding 9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354513" cy="4567238"/>
          </a:xfr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insert image</a:t>
            </a:r>
            <a:endParaRPr lang="en-US"/>
          </a:p>
        </p:txBody>
      </p:sp>
      <p:pic>
        <p:nvPicPr>
          <p:cNvPr id="1506598195" name="Rectangle 3" descr="{&quot;templafy&quot;:{&quot;id&quot;:&quot;d1b58bd7-7598-486e-9a89-256bb44d1248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18082" y="1307797"/>
            <a:ext cx="1767600" cy="347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270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3 image - 2/3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94405" y="586800"/>
            <a:ext cx="4820920" cy="732238"/>
          </a:xfrm>
        </p:spPr>
        <p:txBody>
          <a:bodyPr/>
          <a:lstStyle>
            <a:lvl1pPr>
              <a:lnSpc>
                <a:spcPct val="100000"/>
              </a:lnSpc>
              <a:defRPr sz="1950" b="0" baseline="0"/>
            </a:lvl1pPr>
          </a:lstStyle>
          <a:p>
            <a:r>
              <a:rPr lang="en-US" dirty="0"/>
              <a:t>This is an example of 19,5 </a:t>
            </a:r>
            <a:r>
              <a:rPr lang="en-US" dirty="0" err="1"/>
              <a:t>pt</a:t>
            </a:r>
            <a:r>
              <a:rPr lang="en-US" dirty="0"/>
              <a:t> text with single line spacing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491230" y="1295401"/>
            <a:ext cx="4824095" cy="2933700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 dirty="0"/>
              <a:t>Click to enter text</a:t>
            </a:r>
            <a:endParaRPr lang="en-US"/>
          </a:p>
          <a:p>
            <a:pPr lvl="1"/>
            <a:r>
              <a:rPr lang="en-US" dirty="0" err="1"/>
              <a:t>Tweede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2"/>
            <a:r>
              <a:rPr lang="en-US" dirty="0" err="1"/>
              <a:t>Derde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3"/>
            <a:r>
              <a:rPr lang="en-US" dirty="0" err="1"/>
              <a:t>Vierde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4"/>
            <a:r>
              <a:rPr lang="en-US" dirty="0" err="1"/>
              <a:t>Vijfde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</p:txBody>
      </p:sp>
      <p:sp>
        <p:nvSpPr>
          <p:cNvPr id="10" name="Tijdelijke aanduiding voor afbeelding 9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3022600" cy="4567238"/>
          </a:xfrm>
        </p:spPr>
        <p:txBody>
          <a:bodyPr/>
          <a:lstStyle/>
          <a:p>
            <a:r>
              <a:rPr lang="en-US" dirty="0"/>
              <a:t>Click to insert image</a:t>
            </a:r>
            <a:endParaRPr lang="en-US"/>
          </a:p>
        </p:txBody>
      </p:sp>
      <p:pic>
        <p:nvPicPr>
          <p:cNvPr id="1059053793" name="Rectangle 3" descr="{&quot;templafy&quot;:{&quot;id&quot;:&quot;87548106-368b-4e2a-8d17-87420d681e29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18082" y="1307797"/>
            <a:ext cx="1767600" cy="347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225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+ full screen dark image"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B5C4EFD-F141-47C5-CA31-3E0B03FF70F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9144000" cy="4567500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825" y="518400"/>
            <a:ext cx="7556500" cy="73382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This is an example of a white headline on a full screen, dark image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151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+ full screen light imag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825" y="518400"/>
            <a:ext cx="7556500" cy="73382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This is an example of a black headline on a full screen, light image</a:t>
            </a:r>
            <a:endParaRPr lang="en-US"/>
          </a:p>
        </p:txBody>
      </p:sp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58AC4756-856D-316D-C785-243FF7236CF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9144000" cy="4567500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6832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backgrou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825" y="518400"/>
            <a:ext cx="7556500" cy="73382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This is an example of a black headline on a white background</a:t>
            </a:r>
            <a:endParaRPr lang="en-US"/>
          </a:p>
        </p:txBody>
      </p:sp>
      <p:cxnSp>
        <p:nvCxnSpPr>
          <p:cNvPr id="7" name="Rechte verbindingslijn 6"/>
          <p:cNvCxnSpPr/>
          <p:nvPr userDrawn="1"/>
        </p:nvCxnSpPr>
        <p:spPr>
          <a:xfrm>
            <a:off x="0" y="4563782"/>
            <a:ext cx="914400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jdelijke aanduiding voor afbeelding 8"/>
          <p:cNvSpPr>
            <a:spLocks noGrp="1"/>
          </p:cNvSpPr>
          <p:nvPr>
            <p:ph type="pic" sz="quarter" idx="13" hasCustomPrompt="1"/>
          </p:nvPr>
        </p:nvSpPr>
        <p:spPr>
          <a:xfrm>
            <a:off x="1890000" y="1299075"/>
            <a:ext cx="5292725" cy="2977200"/>
          </a:xfr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insert image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1866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carlet backgroun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This is an example of a 27 </a:t>
            </a:r>
            <a:r>
              <a:rPr lang="en-US" dirty="0" err="1"/>
              <a:t>pt</a:t>
            </a:r>
            <a:r>
              <a:rPr lang="en-US" dirty="0"/>
              <a:t> headline with 27 </a:t>
            </a:r>
            <a:r>
              <a:rPr lang="en-US" dirty="0" err="1"/>
              <a:t>pt</a:t>
            </a:r>
            <a:r>
              <a:rPr lang="en-US" dirty="0"/>
              <a:t> line spacing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enter text</a:t>
            </a:r>
            <a:endParaRPr lang="en-US"/>
          </a:p>
          <a:p>
            <a:pPr lvl="1"/>
            <a:r>
              <a:rPr lang="en-US" dirty="0" err="1"/>
              <a:t>Tweede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2"/>
            <a:r>
              <a:rPr lang="en-US" dirty="0" err="1"/>
              <a:t>Derde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3"/>
            <a:r>
              <a:rPr lang="en-US" dirty="0" err="1"/>
              <a:t>Vierde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4"/>
            <a:r>
              <a:rPr lang="en-US" dirty="0" err="1"/>
              <a:t>Vijfde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</p:txBody>
      </p:sp>
      <p:pic>
        <p:nvPicPr>
          <p:cNvPr id="382731793" name="Rectangle 6" descr="{&quot;templafy&quot;:{&quot;id&quot;:&quot;9d9cd7d2-12ec-4c65-8c77-2a3d1eabdf6c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18082" y="1307797"/>
            <a:ext cx="1767600" cy="347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965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5650" y="586800"/>
            <a:ext cx="7563556" cy="516339"/>
          </a:xfrm>
        </p:spPr>
        <p:txBody>
          <a:bodyPr wrap="none"/>
          <a:lstStyle>
            <a:lvl1pPr>
              <a:lnSpc>
                <a:spcPct val="100000"/>
              </a:lnSpc>
              <a:defRPr sz="1950" b="0" baseline="0"/>
            </a:lvl1pPr>
          </a:lstStyle>
          <a:p>
            <a:r>
              <a:rPr lang="en-US" dirty="0"/>
              <a:t>Sample slide with table and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755651" y="2638425"/>
            <a:ext cx="7563556" cy="15906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enter text</a:t>
            </a:r>
            <a:endParaRPr lang="en-US"/>
          </a:p>
          <a:p>
            <a:pPr lvl="1"/>
            <a:r>
              <a:rPr lang="en-US" dirty="0" err="1"/>
              <a:t>Tweede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2"/>
            <a:r>
              <a:rPr lang="en-US" dirty="0" err="1"/>
              <a:t>Derde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3"/>
            <a:r>
              <a:rPr lang="en-US" dirty="0" err="1"/>
              <a:t>Vierde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4"/>
            <a:r>
              <a:rPr lang="en-US" dirty="0" err="1"/>
              <a:t>Vijfde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</p:txBody>
      </p:sp>
      <p:sp>
        <p:nvSpPr>
          <p:cNvPr id="8" name="Tijdelijke aanduiding voor tabel 7"/>
          <p:cNvSpPr>
            <a:spLocks noGrp="1"/>
          </p:cNvSpPr>
          <p:nvPr>
            <p:ph type="tbl" sz="quarter" idx="13" hasCustomPrompt="1"/>
          </p:nvPr>
        </p:nvSpPr>
        <p:spPr>
          <a:xfrm>
            <a:off x="755650" y="1079501"/>
            <a:ext cx="7559675" cy="1152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insert table</a:t>
            </a:r>
            <a:endParaRPr lang="en-US"/>
          </a:p>
        </p:txBody>
      </p:sp>
      <p:pic>
        <p:nvPicPr>
          <p:cNvPr id="419903561" name="Rectangle 3" descr="{&quot;templafy&quot;:{&quot;id&quot;:&quot;1120b0c9-d33b-4baf-add8-56ea532d7515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18082" y="1307797"/>
            <a:ext cx="1767600" cy="347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389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5650" y="586800"/>
            <a:ext cx="7563556" cy="516339"/>
          </a:xfrm>
        </p:spPr>
        <p:txBody>
          <a:bodyPr wrap="none"/>
          <a:lstStyle>
            <a:lvl1pPr>
              <a:lnSpc>
                <a:spcPct val="100000"/>
              </a:lnSpc>
              <a:defRPr sz="1950" b="0" baseline="0"/>
            </a:lvl1pPr>
          </a:lstStyle>
          <a:p>
            <a:r>
              <a:rPr lang="en-US" dirty="0"/>
              <a:t>Example chart</a:t>
            </a:r>
            <a:endParaRPr lang="en-US"/>
          </a:p>
        </p:txBody>
      </p:sp>
      <p:sp>
        <p:nvSpPr>
          <p:cNvPr id="9" name="Tijdelijke aanduiding voor grafiek 8"/>
          <p:cNvSpPr>
            <a:spLocks noGrp="1"/>
          </p:cNvSpPr>
          <p:nvPr>
            <p:ph type="chart" sz="quarter" idx="13" hasCustomPrompt="1"/>
          </p:nvPr>
        </p:nvSpPr>
        <p:spPr>
          <a:xfrm>
            <a:off x="755650" y="1079500"/>
            <a:ext cx="7559675" cy="31496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insert chart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347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0674435-4D3F-D6A8-A0BB-6B63593D62BC}"/>
              </a:ext>
            </a:extLst>
          </p:cNvPr>
          <p:cNvSpPr txBox="1"/>
          <p:nvPr userDrawn="1"/>
        </p:nvSpPr>
        <p:spPr>
          <a:xfrm>
            <a:off x="1933073" y="1602619"/>
            <a:ext cx="5277854" cy="120032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7200" b="1" dirty="0">
                <a:solidFill>
                  <a:schemeClr val="bg1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722817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825" y="518711"/>
            <a:ext cx="7556500" cy="53903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This is an example of a 27 </a:t>
            </a:r>
            <a:r>
              <a:rPr lang="en-US" dirty="0" err="1"/>
              <a:t>pt</a:t>
            </a:r>
            <a:r>
              <a:rPr lang="en-US" dirty="0"/>
              <a:t> headline with 27 </a:t>
            </a:r>
            <a:r>
              <a:rPr lang="en-US" dirty="0" err="1"/>
              <a:t>pt</a:t>
            </a:r>
            <a:r>
              <a:rPr lang="en-US" dirty="0"/>
              <a:t> line spacing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824" y="1306642"/>
            <a:ext cx="7556501" cy="292245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 err="1"/>
              <a:t>Klik</a:t>
            </a:r>
            <a:r>
              <a:rPr lang="en-US" dirty="0"/>
              <a:t> om de </a:t>
            </a:r>
            <a:r>
              <a:rPr lang="en-US" dirty="0" err="1"/>
              <a:t>modelstijlen</a:t>
            </a:r>
            <a:r>
              <a:rPr lang="en-US" dirty="0"/>
              <a:t>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bewerken</a:t>
            </a:r>
            <a:endParaRPr lang="en-US" dirty="0"/>
          </a:p>
          <a:p>
            <a:pPr lvl="1"/>
            <a:r>
              <a:rPr lang="en-US" dirty="0" err="1"/>
              <a:t>Tweede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2"/>
            <a:r>
              <a:rPr lang="en-US" dirty="0" err="1"/>
              <a:t>Derde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3"/>
            <a:r>
              <a:rPr lang="en-US" dirty="0" err="1"/>
              <a:t>Vierde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4"/>
            <a:r>
              <a:rPr lang="en-US" dirty="0" err="1"/>
              <a:t>Vijfde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</p:txBody>
      </p:sp>
      <p:pic>
        <p:nvPicPr>
          <p:cNvPr id="66" name="Picture 4">
            <a:extLst>
              <a:ext uri="{FF2B5EF4-FFF2-40B4-BE49-F238E27FC236}">
                <a16:creationId xmlns:a16="http://schemas.microsoft.com/office/drawing/2014/main" id="{93FD69BB-9D62-3A4C-8433-C5954D52BB6F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8156575" y="4568825"/>
            <a:ext cx="987425" cy="574675"/>
          </a:xfrm>
          <a:prstGeom prst="rect">
            <a:avLst/>
          </a:prstGeom>
        </p:spPr>
      </p:pic>
      <p:sp>
        <p:nvSpPr>
          <p:cNvPr id="4" name="Rectangle 3" descr="{&quot;templafy&quot;:{&quot;id&quot;:&quot;3093273a-680f-4802-91c8-5822ae71304c&quot;}}">
            <a:extLst>
              <a:ext uri="{FF2B5EF4-FFF2-40B4-BE49-F238E27FC236}">
                <a16:creationId xmlns:a16="http://schemas.microsoft.com/office/drawing/2014/main" id="{CAB1518B-D283-A4E3-DB27-70B344BB7683}"/>
              </a:ext>
            </a:extLst>
          </p:cNvPr>
          <p:cNvSpPr/>
          <p:nvPr userDrawn="1"/>
        </p:nvSpPr>
        <p:spPr>
          <a:xfrm>
            <a:off x="1114425" y="4568400"/>
            <a:ext cx="7042149" cy="5746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dirty="0">
                <a:solidFill>
                  <a:schemeClr val="tx1"/>
                </a:solidFill>
              </a:rPr>
              <a:t>Progress Report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0727E33-D15C-F68D-AC24-C5E575E9DE15}"/>
              </a:ext>
            </a:extLst>
          </p:cNvPr>
          <p:cNvSpPr/>
          <p:nvPr userDrawn="1"/>
        </p:nvSpPr>
        <p:spPr>
          <a:xfrm>
            <a:off x="0" y="4568399"/>
            <a:ext cx="1114424" cy="5746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BCDE33B9-1F9E-4BC2-BE93-A4176EB52515}" type="slidenum">
              <a:rPr lang="en-US" smtClean="0">
                <a:solidFill>
                  <a:schemeClr val="tx1"/>
                </a:solidFill>
              </a:rPr>
              <a:t>‹#›</a:t>
            </a:fld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2791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61" r:id="rId3"/>
    <p:sldLayoutId id="2147483662" r:id="rId4"/>
    <p:sldLayoutId id="2147483664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2" r:id="rId16"/>
    <p:sldLayoutId id="2147483683" r:id="rId17"/>
    <p:sldLayoutId id="2147483686" r:id="rId1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 xmlns:p15="http://schemas.microsoft.com/office/powerpoint/2012/main">
      <p:transition spd="med">
        <p:fade/>
      </p:transition>
    </mc:Fallback>
  </mc:AlternateContent>
  <p:hf hdr="0" dt="0"/>
  <p:txStyles>
    <p:titleStyle>
      <a:lvl1pPr algn="l" defTabSz="685800" rtl="0" eaLnBrk="1" latinLnBrk="0" hangingPunct="1">
        <a:lnSpc>
          <a:spcPts val="2700"/>
        </a:lnSpc>
        <a:spcBef>
          <a:spcPct val="0"/>
        </a:spcBef>
        <a:buNone/>
        <a:defRPr sz="27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6858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sz="1650" kern="1200">
          <a:solidFill>
            <a:schemeClr val="tx1"/>
          </a:solidFill>
          <a:latin typeface="+mn-lt"/>
          <a:ea typeface="+mn-ea"/>
          <a:cs typeface="+mn-cs"/>
        </a:defRPr>
      </a:lvl2pPr>
      <a:lvl3pPr marL="180975" indent="-180975" algn="l" defTabSz="6858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975" algn="l" defTabSz="6858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4pPr>
      <a:lvl5pPr marL="539750" indent="-177800" algn="l" defTabSz="6858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customXml" Target="../../customXml/item8.xml"/><Relationship Id="rId1" Type="http://schemas.openxmlformats.org/officeDocument/2006/relationships/customXml" Target="../../customXml/item4.xml"/><Relationship Id="rId5" Type="http://schemas.openxmlformats.org/officeDocument/2006/relationships/image" Target="../media/image4.jp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customXml" Target="../../customXml/item3.xml"/><Relationship Id="rId1" Type="http://schemas.openxmlformats.org/officeDocument/2006/relationships/customXml" Target="../../customXml/item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1347096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E40FED-BC10-342E-51ED-F031C6ADBC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6443" y="1294737"/>
            <a:ext cx="7556501" cy="484632"/>
          </a:xfrm>
        </p:spPr>
        <p:txBody>
          <a:bodyPr/>
          <a:lstStyle/>
          <a:p>
            <a:r>
              <a:rPr lang="en-US" noProof="0" dirty="0"/>
              <a:t>Literature Review Framework: </a:t>
            </a:r>
            <a:r>
              <a:rPr lang="en-US" b="1" noProof="0" dirty="0"/>
              <a:t>Systematic Mapping Study (SMS)</a:t>
            </a:r>
            <a:endParaRPr lang="en-US" noProof="0" dirty="0"/>
          </a:p>
          <a:p>
            <a:r>
              <a:rPr lang="en-US" noProof="0" dirty="0"/>
              <a:t>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E9D8B9E-A33A-DCB2-8B86-4181BD2DFDD2}"/>
              </a:ext>
            </a:extLst>
          </p:cNvPr>
          <p:cNvSpPr txBox="1">
            <a:spLocks/>
          </p:cNvSpPr>
          <p:nvPr/>
        </p:nvSpPr>
        <p:spPr>
          <a:xfrm>
            <a:off x="756443" y="543095"/>
            <a:ext cx="7556500" cy="53903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685800" rtl="0" eaLnBrk="1" latinLnBrk="0" hangingPunct="1">
              <a:lnSpc>
                <a:spcPts val="2700"/>
              </a:lnSpc>
              <a:spcBef>
                <a:spcPct val="0"/>
              </a:spcBef>
              <a:buNone/>
              <a:defRPr sz="27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Intro </a:t>
            </a:r>
          </a:p>
        </p:txBody>
      </p:sp>
      <p:sp>
        <p:nvSpPr>
          <p:cNvPr id="2" name="Pentagon 1">
            <a:extLst>
              <a:ext uri="{FF2B5EF4-FFF2-40B4-BE49-F238E27FC236}">
                <a16:creationId xmlns:a16="http://schemas.microsoft.com/office/drawing/2014/main" id="{51FB17C7-97A6-8225-C014-26A152130A1F}"/>
              </a:ext>
            </a:extLst>
          </p:cNvPr>
          <p:cNvSpPr/>
          <p:nvPr/>
        </p:nvSpPr>
        <p:spPr>
          <a:xfrm>
            <a:off x="290099" y="2258564"/>
            <a:ext cx="2169637" cy="792382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/>
              <a:t>Research Topic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D59E22-D9AE-59C9-5038-E3B1E7120323}"/>
              </a:ext>
            </a:extLst>
          </p:cNvPr>
          <p:cNvSpPr/>
          <p:nvPr/>
        </p:nvSpPr>
        <p:spPr>
          <a:xfrm>
            <a:off x="2628436" y="2072612"/>
            <a:ext cx="1673352" cy="11911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/>
              <a:t>Screening (inclusion/exclusion)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4978EFD-F690-4F11-C9B3-5314874A1E84}"/>
              </a:ext>
            </a:extLst>
          </p:cNvPr>
          <p:cNvSpPr/>
          <p:nvPr/>
        </p:nvSpPr>
        <p:spPr>
          <a:xfrm>
            <a:off x="4615194" y="2072612"/>
            <a:ext cx="1673352" cy="11911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/>
              <a:t>Knowledge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19CB06-94D3-23C8-A3E2-2A8E7AFA7C26}"/>
              </a:ext>
            </a:extLst>
          </p:cNvPr>
          <p:cNvSpPr/>
          <p:nvPr/>
        </p:nvSpPr>
        <p:spPr>
          <a:xfrm>
            <a:off x="6414053" y="2191076"/>
            <a:ext cx="1673352" cy="9071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Translate Knowledge into a modeling language</a:t>
            </a:r>
            <a:endParaRPr lang="en-US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FCA1577-D874-1CAF-583F-4F709EDAECFD}"/>
              </a:ext>
            </a:extLst>
          </p:cNvPr>
          <p:cNvSpPr/>
          <p:nvPr/>
        </p:nvSpPr>
        <p:spPr>
          <a:xfrm>
            <a:off x="164592" y="1779369"/>
            <a:ext cx="4281902" cy="1777647"/>
          </a:xfrm>
          <a:prstGeom prst="rect">
            <a:avLst/>
          </a:prstGeom>
          <a:noFill/>
          <a:ln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0C0D05-D926-BF68-2717-1B8E5C08941B}"/>
              </a:ext>
            </a:extLst>
          </p:cNvPr>
          <p:cNvSpPr txBox="1"/>
          <p:nvPr/>
        </p:nvSpPr>
        <p:spPr>
          <a:xfrm>
            <a:off x="1684588" y="3509969"/>
            <a:ext cx="155029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/>
              <a:t>Pool of Information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F9E0A7E-9913-7299-C05C-AF3F827BCC90}"/>
              </a:ext>
            </a:extLst>
          </p:cNvPr>
          <p:cNvSpPr/>
          <p:nvPr/>
        </p:nvSpPr>
        <p:spPr>
          <a:xfrm>
            <a:off x="8212912" y="1773819"/>
            <a:ext cx="805582" cy="37984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Words</a:t>
            </a:r>
            <a:endParaRPr lang="en-US" noProof="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FABA394-97BD-9193-5461-E491B473FADA}"/>
              </a:ext>
            </a:extLst>
          </p:cNvPr>
          <p:cNvSpPr/>
          <p:nvPr/>
        </p:nvSpPr>
        <p:spPr>
          <a:xfrm>
            <a:off x="8212912" y="2238672"/>
            <a:ext cx="805582" cy="37984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Number</a:t>
            </a:r>
            <a:endParaRPr lang="en-US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603531-F2EB-5E29-01E9-44E0F7FEE628}"/>
              </a:ext>
            </a:extLst>
          </p:cNvPr>
          <p:cNvSpPr/>
          <p:nvPr/>
        </p:nvSpPr>
        <p:spPr>
          <a:xfrm>
            <a:off x="8212912" y="2703525"/>
            <a:ext cx="805582" cy="37984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Code</a:t>
            </a:r>
            <a:endParaRPr lang="en-US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FC88876-2AA7-35E7-E80A-1541E85F3580}"/>
              </a:ext>
            </a:extLst>
          </p:cNvPr>
          <p:cNvSpPr/>
          <p:nvPr/>
        </p:nvSpPr>
        <p:spPr>
          <a:xfrm>
            <a:off x="8212912" y="3182721"/>
            <a:ext cx="805582" cy="37984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/>
              <a:t>Diagram</a:t>
            </a:r>
          </a:p>
        </p:txBody>
      </p:sp>
    </p:spTree>
    <p:extLst>
      <p:ext uri="{BB962C8B-B14F-4D97-AF65-F5344CB8AC3E}">
        <p14:creationId xmlns:p14="http://schemas.microsoft.com/office/powerpoint/2010/main" val="2758987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91B05-9379-7982-7675-62FDF07CC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An Example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68606FF-7AA6-ECE2-50BA-3406B4DA4D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3162" y="1994020"/>
            <a:ext cx="2059031" cy="1297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Pentagon 4">
            <a:extLst>
              <a:ext uri="{FF2B5EF4-FFF2-40B4-BE49-F238E27FC236}">
                <a16:creationId xmlns:a16="http://schemas.microsoft.com/office/drawing/2014/main" id="{CBEF693B-1B17-C6E6-1267-AF892210D5BD}"/>
              </a:ext>
            </a:extLst>
          </p:cNvPr>
          <p:cNvSpPr/>
          <p:nvPr/>
        </p:nvSpPr>
        <p:spPr>
          <a:xfrm>
            <a:off x="290099" y="2258564"/>
            <a:ext cx="2169637" cy="792382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/>
              <a:t>Research Question (RQ)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1CB23CC-07AF-E6E7-DA86-D82384BF0FCA}"/>
              </a:ext>
            </a:extLst>
          </p:cNvPr>
          <p:cNvSpPr/>
          <p:nvPr/>
        </p:nvSpPr>
        <p:spPr>
          <a:xfrm>
            <a:off x="164592" y="1779369"/>
            <a:ext cx="4407408" cy="1777647"/>
          </a:xfrm>
          <a:prstGeom prst="rect">
            <a:avLst/>
          </a:prstGeom>
          <a:noFill/>
          <a:ln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BE2BC1-BCE8-DC8D-CD88-385E888CE91D}"/>
              </a:ext>
            </a:extLst>
          </p:cNvPr>
          <p:cNvSpPr txBox="1"/>
          <p:nvPr/>
        </p:nvSpPr>
        <p:spPr>
          <a:xfrm>
            <a:off x="1684588" y="3509969"/>
            <a:ext cx="155029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/>
              <a:t>Pool of Information</a:t>
            </a:r>
          </a:p>
        </p:txBody>
      </p:sp>
      <p:pic>
        <p:nvPicPr>
          <p:cNvPr id="1028" name="Picture 4" descr="Systems Engineering Body of Knowledge (SEBoK) | IEEE Systems Council">
            <a:extLst>
              <a:ext uri="{FF2B5EF4-FFF2-40B4-BE49-F238E27FC236}">
                <a16:creationId xmlns:a16="http://schemas.microsoft.com/office/drawing/2014/main" id="{01D66344-FF75-8033-08AF-B1EF2993FA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2380" y="2324604"/>
            <a:ext cx="1809600" cy="688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183991C-187A-14A9-CC63-494797B999D6}"/>
              </a:ext>
            </a:extLst>
          </p:cNvPr>
          <p:cNvSpPr txBox="1"/>
          <p:nvPr/>
        </p:nvSpPr>
        <p:spPr>
          <a:xfrm>
            <a:off x="4775665" y="3452260"/>
            <a:ext cx="2214024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Systems Engineering Concept Model (SECM) Working Group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0BE85BC-2DFD-CFCA-866E-97B0D1DA79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6442" y="1150948"/>
            <a:ext cx="7556501" cy="484632"/>
          </a:xfrm>
        </p:spPr>
        <p:txBody>
          <a:bodyPr/>
          <a:lstStyle/>
          <a:p>
            <a:r>
              <a:rPr lang="en-US" noProof="0" dirty="0"/>
              <a:t>Literature Review for SysML V2 (Starting in 2015)</a:t>
            </a:r>
          </a:p>
          <a:p>
            <a:r>
              <a:rPr lang="en-US" noProof="0" dirty="0"/>
              <a:t>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8435864-F051-3205-906C-EFEBB1449F13}"/>
              </a:ext>
            </a:extLst>
          </p:cNvPr>
          <p:cNvSpPr/>
          <p:nvPr/>
        </p:nvSpPr>
        <p:spPr>
          <a:xfrm>
            <a:off x="7223760" y="2343150"/>
            <a:ext cx="1673352" cy="6232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/>
              <a:t>Interpretation</a:t>
            </a:r>
          </a:p>
        </p:txBody>
      </p:sp>
    </p:spTree>
    <p:extLst>
      <p:ext uri="{BB962C8B-B14F-4D97-AF65-F5344CB8AC3E}">
        <p14:creationId xmlns:p14="http://schemas.microsoft.com/office/powerpoint/2010/main" val="2852874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8E016-2A61-E3CD-46F7-E5407849D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Systematic Mapping Study (SMS)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742778-FD84-FE4E-365C-6C78C96CC6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6443" y="1110521"/>
            <a:ext cx="7556501" cy="2922458"/>
          </a:xfrm>
        </p:spPr>
        <p:txBody>
          <a:bodyPr/>
          <a:lstStyle/>
          <a:p>
            <a:r>
              <a:rPr lang="en-US" noProof="0" dirty="0"/>
              <a:t>Using the problem to understand the problem.</a:t>
            </a:r>
          </a:p>
          <a:p>
            <a:r>
              <a:rPr lang="en-US" noProof="0" dirty="0"/>
              <a:t>Problem: Large amount of data, </a:t>
            </a:r>
            <a:r>
              <a:rPr lang="en-US" i="1" noProof="0" dirty="0"/>
              <a:t>not linked </a:t>
            </a:r>
            <a:r>
              <a:rPr lang="en-US" noProof="0" dirty="0"/>
              <a:t>to descriptive models </a:t>
            </a:r>
          </a:p>
        </p:txBody>
      </p:sp>
      <p:sp>
        <p:nvSpPr>
          <p:cNvPr id="4" name="Pentagon 3">
            <a:extLst>
              <a:ext uri="{FF2B5EF4-FFF2-40B4-BE49-F238E27FC236}">
                <a16:creationId xmlns:a16="http://schemas.microsoft.com/office/drawing/2014/main" id="{FDE003A8-547A-AA4D-1BE1-F805872AC9FA}"/>
              </a:ext>
            </a:extLst>
          </p:cNvPr>
          <p:cNvSpPr/>
          <p:nvPr/>
        </p:nvSpPr>
        <p:spPr>
          <a:xfrm>
            <a:off x="290099" y="2481492"/>
            <a:ext cx="2169637" cy="792382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/>
              <a:t>Research Question (RQ)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059D056-BC49-27A2-A160-E01B74BCDDB4}"/>
              </a:ext>
            </a:extLst>
          </p:cNvPr>
          <p:cNvSpPr/>
          <p:nvPr/>
        </p:nvSpPr>
        <p:spPr>
          <a:xfrm>
            <a:off x="2656856" y="2295540"/>
            <a:ext cx="1673352" cy="11911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/>
              <a:t>Screening (inclusion/exclusion)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0091642-B5F5-512E-C93A-EE74D8E3CF33}"/>
              </a:ext>
            </a:extLst>
          </p:cNvPr>
          <p:cNvSpPr/>
          <p:nvPr/>
        </p:nvSpPr>
        <p:spPr>
          <a:xfrm>
            <a:off x="5163851" y="2295540"/>
            <a:ext cx="1673352" cy="11911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/>
              <a:t>Build a SysML V2 Diagram</a:t>
            </a:r>
          </a:p>
          <a:p>
            <a:pPr algn="ctr"/>
            <a:r>
              <a:rPr lang="en-US" noProof="0" dirty="0"/>
              <a:t>(Descriptive Model)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CEB709E-35A0-E4F1-33BB-ADDAF55E80C6}"/>
              </a:ext>
            </a:extLst>
          </p:cNvPr>
          <p:cNvSpPr/>
          <p:nvPr/>
        </p:nvSpPr>
        <p:spPr>
          <a:xfrm>
            <a:off x="7223760" y="2566078"/>
            <a:ext cx="1673352" cy="6232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/>
              <a:t>Interpretation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4D852A-62EB-B64A-A360-6434761AEF0B}"/>
              </a:ext>
            </a:extLst>
          </p:cNvPr>
          <p:cNvSpPr/>
          <p:nvPr/>
        </p:nvSpPr>
        <p:spPr>
          <a:xfrm>
            <a:off x="164592" y="2002297"/>
            <a:ext cx="4407408" cy="1777647"/>
          </a:xfrm>
          <a:prstGeom prst="rect">
            <a:avLst/>
          </a:prstGeom>
          <a:noFill/>
          <a:ln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493625-CFC9-EB9D-1D48-AC0BEA383765}"/>
              </a:ext>
            </a:extLst>
          </p:cNvPr>
          <p:cNvSpPr txBox="1"/>
          <p:nvPr/>
        </p:nvSpPr>
        <p:spPr>
          <a:xfrm>
            <a:off x="1684588" y="3732897"/>
            <a:ext cx="155029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/>
              <a:t>Pool of Information</a:t>
            </a:r>
          </a:p>
        </p:txBody>
      </p:sp>
      <p:sp>
        <p:nvSpPr>
          <p:cNvPr id="10" name="Left-Right Arrow 9">
            <a:extLst>
              <a:ext uri="{FF2B5EF4-FFF2-40B4-BE49-F238E27FC236}">
                <a16:creationId xmlns:a16="http://schemas.microsoft.com/office/drawing/2014/main" id="{D281E870-7918-4C9C-0D57-42F44961A697}"/>
              </a:ext>
            </a:extLst>
          </p:cNvPr>
          <p:cNvSpPr/>
          <p:nvPr/>
        </p:nvSpPr>
        <p:spPr>
          <a:xfrm>
            <a:off x="4259246" y="2702720"/>
            <a:ext cx="945552" cy="376799"/>
          </a:xfrm>
          <a:prstGeom prst="left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0" dirty="0">
                <a:solidFill>
                  <a:schemeClr val="tx1"/>
                </a:solidFill>
              </a:rPr>
              <a:t>No Link!</a:t>
            </a:r>
          </a:p>
        </p:txBody>
      </p:sp>
    </p:spTree>
    <p:extLst>
      <p:ext uri="{BB962C8B-B14F-4D97-AF65-F5344CB8AC3E}">
        <p14:creationId xmlns:p14="http://schemas.microsoft.com/office/powerpoint/2010/main" val="4132705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77E7E-CF5B-EDC5-5EE7-AB219417B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3" y="313130"/>
            <a:ext cx="7556500" cy="539038"/>
          </a:xfrm>
        </p:spPr>
        <p:txBody>
          <a:bodyPr/>
          <a:lstStyle/>
          <a:p>
            <a:r>
              <a:rPr lang="en-US" noProof="0" dirty="0"/>
              <a:t>Different MBSE Approaches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C88A85A-8B9D-81BA-32B4-9150184E1BD6}"/>
              </a:ext>
            </a:extLst>
          </p:cNvPr>
          <p:cNvCxnSpPr/>
          <p:nvPr/>
        </p:nvCxnSpPr>
        <p:spPr>
          <a:xfrm>
            <a:off x="3306618" y="1172441"/>
            <a:ext cx="0" cy="2225964"/>
          </a:xfrm>
          <a:prstGeom prst="line">
            <a:avLst/>
          </a:prstGeom>
          <a:ln w="381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71BF5FF-C4CC-F625-EE87-B8B4FA13D5C0}"/>
              </a:ext>
            </a:extLst>
          </p:cNvPr>
          <p:cNvCxnSpPr/>
          <p:nvPr/>
        </p:nvCxnSpPr>
        <p:spPr>
          <a:xfrm>
            <a:off x="6174510" y="1172441"/>
            <a:ext cx="0" cy="2225964"/>
          </a:xfrm>
          <a:prstGeom prst="line">
            <a:avLst/>
          </a:prstGeom>
          <a:ln w="381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BF6B83C0-D263-5209-F94F-727A76734D1C}"/>
              </a:ext>
            </a:extLst>
          </p:cNvPr>
          <p:cNvSpPr/>
          <p:nvPr/>
        </p:nvSpPr>
        <p:spPr>
          <a:xfrm>
            <a:off x="4307365" y="1148225"/>
            <a:ext cx="892883" cy="6117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noProof="0" dirty="0">
                <a:solidFill>
                  <a:sysClr val="windowText" lastClr="000000"/>
                </a:solidFill>
              </a:rPr>
              <a:t>Descriptive Model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389C4B1-D939-EAAA-EBE9-5138DA972A5D}"/>
              </a:ext>
            </a:extLst>
          </p:cNvPr>
          <p:cNvSpPr/>
          <p:nvPr/>
        </p:nvSpPr>
        <p:spPr>
          <a:xfrm>
            <a:off x="3836223" y="1897396"/>
            <a:ext cx="1904119" cy="69207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noProof="0" dirty="0">
              <a:solidFill>
                <a:sysClr val="windowText" lastClr="00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7D77C06-6C5F-A227-43A2-414A0F8FD088}"/>
              </a:ext>
            </a:extLst>
          </p:cNvPr>
          <p:cNvSpPr txBox="1"/>
          <p:nvPr/>
        </p:nvSpPr>
        <p:spPr>
          <a:xfrm>
            <a:off x="4167940" y="2013835"/>
            <a:ext cx="127233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noProof="0" dirty="0"/>
              <a:t>Analytic Model</a:t>
            </a:r>
          </a:p>
        </p:txBody>
      </p:sp>
      <p:sp>
        <p:nvSpPr>
          <p:cNvPr id="14" name="Down Arrow 13">
            <a:extLst>
              <a:ext uri="{FF2B5EF4-FFF2-40B4-BE49-F238E27FC236}">
                <a16:creationId xmlns:a16="http://schemas.microsoft.com/office/drawing/2014/main" id="{294A09D5-1634-F901-00F4-A5BF32A8F8E1}"/>
              </a:ext>
            </a:extLst>
          </p:cNvPr>
          <p:cNvSpPr/>
          <p:nvPr/>
        </p:nvSpPr>
        <p:spPr>
          <a:xfrm>
            <a:off x="3962805" y="2053499"/>
            <a:ext cx="179072" cy="369455"/>
          </a:xfrm>
          <a:prstGeom prst="downArrow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Down Arrow 14">
            <a:extLst>
              <a:ext uri="{FF2B5EF4-FFF2-40B4-BE49-F238E27FC236}">
                <a16:creationId xmlns:a16="http://schemas.microsoft.com/office/drawing/2014/main" id="{B906435A-C2EA-3A6E-643C-87C994A727F4}"/>
              </a:ext>
            </a:extLst>
          </p:cNvPr>
          <p:cNvSpPr/>
          <p:nvPr/>
        </p:nvSpPr>
        <p:spPr>
          <a:xfrm rot="10800000">
            <a:off x="5413024" y="2053499"/>
            <a:ext cx="179072" cy="369455"/>
          </a:xfrm>
          <a:prstGeom prst="downArrow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69CD55C-6C65-3F0B-3486-C7B9E82C2B91}"/>
              </a:ext>
            </a:extLst>
          </p:cNvPr>
          <p:cNvSpPr txBox="1"/>
          <p:nvPr/>
        </p:nvSpPr>
        <p:spPr>
          <a:xfrm>
            <a:off x="4323734" y="2237030"/>
            <a:ext cx="946093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/>
              <a:t>As the Link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EB647EB-DB5A-C67D-747B-8D6CCCCAAC4A}"/>
              </a:ext>
            </a:extLst>
          </p:cNvPr>
          <p:cNvSpPr/>
          <p:nvPr/>
        </p:nvSpPr>
        <p:spPr>
          <a:xfrm>
            <a:off x="4307365" y="2729226"/>
            <a:ext cx="892883" cy="61177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noProof="0" dirty="0">
                <a:solidFill>
                  <a:sysClr val="windowText" lastClr="000000"/>
                </a:solidFill>
              </a:rPr>
              <a:t>Analytical Model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A044537-A18C-2D3D-C5A9-E6F98FAFDE09}"/>
              </a:ext>
            </a:extLst>
          </p:cNvPr>
          <p:cNvSpPr/>
          <p:nvPr/>
        </p:nvSpPr>
        <p:spPr>
          <a:xfrm>
            <a:off x="1251766" y="1144133"/>
            <a:ext cx="892883" cy="6117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noProof="0" dirty="0">
                <a:solidFill>
                  <a:sysClr val="windowText" lastClr="000000"/>
                </a:solidFill>
              </a:rPr>
              <a:t>Descriptive Model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925577B-0EEF-CD6B-4B1D-85E83F5061AB}"/>
              </a:ext>
            </a:extLst>
          </p:cNvPr>
          <p:cNvSpPr/>
          <p:nvPr/>
        </p:nvSpPr>
        <p:spPr>
          <a:xfrm>
            <a:off x="780624" y="1893304"/>
            <a:ext cx="1904119" cy="69207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noProof="0" dirty="0">
              <a:solidFill>
                <a:sysClr val="windowText" lastClr="00000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94697AA-D138-F098-812B-B565DF50037A}"/>
              </a:ext>
            </a:extLst>
          </p:cNvPr>
          <p:cNvSpPr txBox="1"/>
          <p:nvPr/>
        </p:nvSpPr>
        <p:spPr>
          <a:xfrm>
            <a:off x="999565" y="1991283"/>
            <a:ext cx="1492012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noProof="0" dirty="0"/>
              <a:t>Descriptive Model</a:t>
            </a:r>
          </a:p>
        </p:txBody>
      </p:sp>
      <p:sp>
        <p:nvSpPr>
          <p:cNvPr id="24" name="Down Arrow 23">
            <a:extLst>
              <a:ext uri="{FF2B5EF4-FFF2-40B4-BE49-F238E27FC236}">
                <a16:creationId xmlns:a16="http://schemas.microsoft.com/office/drawing/2014/main" id="{CA565BA5-DD27-B41D-4E97-EDF9C0315057}"/>
              </a:ext>
            </a:extLst>
          </p:cNvPr>
          <p:cNvSpPr/>
          <p:nvPr/>
        </p:nvSpPr>
        <p:spPr>
          <a:xfrm>
            <a:off x="865242" y="2049407"/>
            <a:ext cx="179072" cy="369455"/>
          </a:xfrm>
          <a:prstGeom prst="downArrow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Down Arrow 24">
            <a:extLst>
              <a:ext uri="{FF2B5EF4-FFF2-40B4-BE49-F238E27FC236}">
                <a16:creationId xmlns:a16="http://schemas.microsoft.com/office/drawing/2014/main" id="{0455F17D-11E3-73CA-E207-3B40CAC6AC03}"/>
              </a:ext>
            </a:extLst>
          </p:cNvPr>
          <p:cNvSpPr/>
          <p:nvPr/>
        </p:nvSpPr>
        <p:spPr>
          <a:xfrm rot="10800000">
            <a:off x="2407459" y="2049407"/>
            <a:ext cx="179072" cy="369455"/>
          </a:xfrm>
          <a:prstGeom prst="downArrow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B1BB116-5641-EB8A-207D-1EB911B1D225}"/>
              </a:ext>
            </a:extLst>
          </p:cNvPr>
          <p:cNvSpPr txBox="1"/>
          <p:nvPr/>
        </p:nvSpPr>
        <p:spPr>
          <a:xfrm>
            <a:off x="1268135" y="2232938"/>
            <a:ext cx="946093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/>
              <a:t>As the Link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A75F896-0653-AF07-A4AB-78C719A78C41}"/>
              </a:ext>
            </a:extLst>
          </p:cNvPr>
          <p:cNvSpPr/>
          <p:nvPr/>
        </p:nvSpPr>
        <p:spPr>
          <a:xfrm>
            <a:off x="1251765" y="2729226"/>
            <a:ext cx="892883" cy="61177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noProof="0" dirty="0">
                <a:solidFill>
                  <a:sysClr val="windowText" lastClr="000000"/>
                </a:solidFill>
              </a:rPr>
              <a:t>Analytical Model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DC7318F-F182-09DD-4F25-841CA4F7F3DF}"/>
              </a:ext>
            </a:extLst>
          </p:cNvPr>
          <p:cNvSpPr/>
          <p:nvPr/>
        </p:nvSpPr>
        <p:spPr>
          <a:xfrm>
            <a:off x="6624985" y="1312334"/>
            <a:ext cx="2158794" cy="186266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noProof="0" dirty="0">
              <a:solidFill>
                <a:sysClr val="windowText" lastClr="000000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37303BE-8AEA-7130-8EAD-EDB4B6FF00C5}"/>
              </a:ext>
            </a:extLst>
          </p:cNvPr>
          <p:cNvSpPr/>
          <p:nvPr/>
        </p:nvSpPr>
        <p:spPr>
          <a:xfrm>
            <a:off x="6770255" y="1450019"/>
            <a:ext cx="1887397" cy="6117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noProof="0" dirty="0">
                <a:solidFill>
                  <a:sysClr val="windowText" lastClr="000000"/>
                </a:solidFill>
              </a:rPr>
              <a:t>Descriptive Modeling with Analytical Features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CE1E90A-DF48-9B89-BE95-6A9F01633157}"/>
              </a:ext>
            </a:extLst>
          </p:cNvPr>
          <p:cNvSpPr/>
          <p:nvPr/>
        </p:nvSpPr>
        <p:spPr>
          <a:xfrm>
            <a:off x="6770255" y="2423340"/>
            <a:ext cx="1887397" cy="6117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noProof="0" dirty="0">
                <a:solidFill>
                  <a:sysClr val="windowText" lastClr="000000"/>
                </a:solidFill>
              </a:rPr>
              <a:t>Analytical Modeling with Descriptive Features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7A2F650-08B2-D552-4719-6E3606F307B6}"/>
              </a:ext>
            </a:extLst>
          </p:cNvPr>
          <p:cNvSpPr txBox="1"/>
          <p:nvPr/>
        </p:nvSpPr>
        <p:spPr>
          <a:xfrm>
            <a:off x="254001" y="3626518"/>
            <a:ext cx="293793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noProof="0" dirty="0"/>
              <a:t>Goal: developing a universal descriptive interface, to enable compatibility with various analytical modeling tools (similar to MP3 codec for music)</a:t>
            </a:r>
          </a:p>
          <a:p>
            <a:endParaRPr lang="en-US" sz="1000" noProof="0" dirty="0"/>
          </a:p>
          <a:p>
            <a:r>
              <a:rPr lang="en-US" sz="1000" noProof="0" dirty="0"/>
              <a:t>Ref: 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309B046-261D-23A4-F332-C985A35080AF}"/>
              </a:ext>
            </a:extLst>
          </p:cNvPr>
          <p:cNvSpPr txBox="1"/>
          <p:nvPr/>
        </p:nvSpPr>
        <p:spPr>
          <a:xfrm>
            <a:off x="3327814" y="3621600"/>
            <a:ext cx="284669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noProof="0" dirty="0"/>
              <a:t>Goal: Processing the descriptive model to enable APIs to ensure compatibility with other analytical modeling tools </a:t>
            </a:r>
          </a:p>
          <a:p>
            <a:endParaRPr lang="en-US" sz="1000" noProof="0" dirty="0"/>
          </a:p>
          <a:p>
            <a:r>
              <a:rPr lang="en-US" sz="1000" noProof="0" dirty="0"/>
              <a:t>Ref: 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6C4EC1D-F147-B3B7-0B3E-05A9BBCC34D8}"/>
              </a:ext>
            </a:extLst>
          </p:cNvPr>
          <p:cNvSpPr txBox="1"/>
          <p:nvPr/>
        </p:nvSpPr>
        <p:spPr>
          <a:xfrm>
            <a:off x="6281036" y="3621600"/>
            <a:ext cx="28466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noProof="0" dirty="0"/>
              <a:t>Goal: Provide a modeling environment for both descriptive and analytical modeling</a:t>
            </a:r>
          </a:p>
          <a:p>
            <a:endParaRPr lang="en-US" sz="1000" noProof="0" dirty="0"/>
          </a:p>
          <a:p>
            <a:r>
              <a:rPr lang="en-US" sz="1000" noProof="0" dirty="0"/>
              <a:t>Ref: 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452383F-18E8-3526-C6E1-13C971C45628}"/>
              </a:ext>
            </a:extLst>
          </p:cNvPr>
          <p:cNvSpPr txBox="1"/>
          <p:nvPr/>
        </p:nvSpPr>
        <p:spPr>
          <a:xfrm>
            <a:off x="7514219" y="2089302"/>
            <a:ext cx="399468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noProof="0" dirty="0"/>
              <a:t>OR</a:t>
            </a:r>
          </a:p>
        </p:txBody>
      </p:sp>
    </p:spTree>
    <p:extLst>
      <p:ext uri="{BB962C8B-B14F-4D97-AF65-F5344CB8AC3E}">
        <p14:creationId xmlns:p14="http://schemas.microsoft.com/office/powerpoint/2010/main" val="881420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E5634-A226-BAD9-7A41-4B76AC022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Descriptive Model as the Link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4C9491-EFDD-EAE3-6DB1-89DBC30705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6443" y="1294737"/>
            <a:ext cx="5783941" cy="2922458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noProof="0" dirty="0"/>
              <a:t>This is the common approach in SE literature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Main purpose of sysml-v2 </a:t>
            </a:r>
            <a:r>
              <a:rPr lang="en-US" i="1" dirty="0"/>
              <a:t>textual</a:t>
            </a:r>
            <a:r>
              <a:rPr lang="en-US" dirty="0"/>
              <a:t> notation </a:t>
            </a:r>
            <a:r>
              <a:rPr lang="en-US" noProof="0" dirty="0"/>
              <a:t>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Similar efforts by SERC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69FE35-CEE3-3739-09D4-C2AC9CA32A8C}"/>
              </a:ext>
            </a:extLst>
          </p:cNvPr>
          <p:cNvSpPr/>
          <p:nvPr/>
        </p:nvSpPr>
        <p:spPr>
          <a:xfrm>
            <a:off x="7263100" y="1334954"/>
            <a:ext cx="892883" cy="6117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noProof="0" dirty="0">
                <a:solidFill>
                  <a:sysClr val="windowText" lastClr="000000"/>
                </a:solidFill>
              </a:rPr>
              <a:t>Descriptive Model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1A02CE-8149-DD1F-91AD-FD96A396B79C}"/>
              </a:ext>
            </a:extLst>
          </p:cNvPr>
          <p:cNvSpPr/>
          <p:nvPr/>
        </p:nvSpPr>
        <p:spPr>
          <a:xfrm>
            <a:off x="6791958" y="2084125"/>
            <a:ext cx="1904119" cy="69207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noProof="0" dirty="0">
              <a:solidFill>
                <a:sysClr val="windowText" lastClr="00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552CB6-E0A7-54E6-DA77-9E5205336055}"/>
              </a:ext>
            </a:extLst>
          </p:cNvPr>
          <p:cNvSpPr txBox="1"/>
          <p:nvPr/>
        </p:nvSpPr>
        <p:spPr>
          <a:xfrm>
            <a:off x="7010899" y="2182104"/>
            <a:ext cx="1492012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noProof="0" dirty="0"/>
              <a:t>Descriptive Model</a:t>
            </a:r>
          </a:p>
        </p:txBody>
      </p:sp>
      <p:sp>
        <p:nvSpPr>
          <p:cNvPr id="7" name="Down Arrow 6">
            <a:extLst>
              <a:ext uri="{FF2B5EF4-FFF2-40B4-BE49-F238E27FC236}">
                <a16:creationId xmlns:a16="http://schemas.microsoft.com/office/drawing/2014/main" id="{C145BB56-D73D-29FD-404F-7B90B1F34F35}"/>
              </a:ext>
            </a:extLst>
          </p:cNvPr>
          <p:cNvSpPr/>
          <p:nvPr/>
        </p:nvSpPr>
        <p:spPr>
          <a:xfrm>
            <a:off x="6876576" y="2240228"/>
            <a:ext cx="179072" cy="369455"/>
          </a:xfrm>
          <a:prstGeom prst="downArrow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Down Arrow 7">
            <a:extLst>
              <a:ext uri="{FF2B5EF4-FFF2-40B4-BE49-F238E27FC236}">
                <a16:creationId xmlns:a16="http://schemas.microsoft.com/office/drawing/2014/main" id="{82E59558-E58B-EDF9-3956-2512F876B566}"/>
              </a:ext>
            </a:extLst>
          </p:cNvPr>
          <p:cNvSpPr/>
          <p:nvPr/>
        </p:nvSpPr>
        <p:spPr>
          <a:xfrm rot="10800000">
            <a:off x="8418793" y="2240228"/>
            <a:ext cx="179072" cy="369455"/>
          </a:xfrm>
          <a:prstGeom prst="downArrow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C97025-AD2B-33DD-6F6D-836957169DC4}"/>
              </a:ext>
            </a:extLst>
          </p:cNvPr>
          <p:cNvSpPr txBox="1"/>
          <p:nvPr/>
        </p:nvSpPr>
        <p:spPr>
          <a:xfrm>
            <a:off x="7279469" y="2423759"/>
            <a:ext cx="946093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/>
              <a:t>As the Link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8CC0F45-3FCB-271F-88A1-7DE7EB640904}"/>
              </a:ext>
            </a:extLst>
          </p:cNvPr>
          <p:cNvSpPr/>
          <p:nvPr/>
        </p:nvSpPr>
        <p:spPr>
          <a:xfrm>
            <a:off x="7263099" y="2920047"/>
            <a:ext cx="892883" cy="61177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noProof="0" dirty="0">
                <a:solidFill>
                  <a:sysClr val="windowText" lastClr="000000"/>
                </a:solidFill>
              </a:rPr>
              <a:t>Analytical Model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60AD281A-4190-8C74-6B16-07A659B6C5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2691988"/>
              </p:ext>
            </p:extLst>
          </p:nvPr>
        </p:nvGraphicFramePr>
        <p:xfrm>
          <a:off x="756443" y="2776204"/>
          <a:ext cx="5170852" cy="1593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5426">
                  <a:extLst>
                    <a:ext uri="{9D8B030D-6E8A-4147-A177-3AD203B41FA5}">
                      <a16:colId xmlns:a16="http://schemas.microsoft.com/office/drawing/2014/main" val="1883619723"/>
                    </a:ext>
                  </a:extLst>
                </a:gridCol>
                <a:gridCol w="2585426">
                  <a:extLst>
                    <a:ext uri="{9D8B030D-6E8A-4147-A177-3AD203B41FA5}">
                      <a16:colId xmlns:a16="http://schemas.microsoft.com/office/drawing/2014/main" val="398982690"/>
                    </a:ext>
                  </a:extLst>
                </a:gridCol>
              </a:tblGrid>
              <a:tr h="39846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Caveats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Benefits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5477528"/>
                  </a:ext>
                </a:extLst>
              </a:tr>
              <a:tr h="398462">
                <a:tc>
                  <a:txBody>
                    <a:bodyPr/>
                    <a:lstStyle/>
                    <a:p>
                      <a:r>
                        <a:rPr lang="en-US" sz="1200" dirty="0"/>
                        <a:t>Hard to adopt, takes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No tool needed (theoretically)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5787497"/>
                  </a:ext>
                </a:extLst>
              </a:tr>
              <a:tr h="398462">
                <a:tc>
                  <a:txBody>
                    <a:bodyPr/>
                    <a:lstStyle/>
                    <a:p>
                      <a:r>
                        <a:rPr lang="en-US" sz="1200" dirty="0"/>
                        <a:t>Legacy models need to be translated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Textual and Graphical modeling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4946248"/>
                  </a:ext>
                </a:extLst>
              </a:tr>
              <a:tr h="398462">
                <a:tc>
                  <a:txBody>
                    <a:bodyPr/>
                    <a:lstStyle/>
                    <a:p>
                      <a:r>
                        <a:rPr lang="en-US" sz="1200" dirty="0"/>
                        <a:t>IP issues (similar to MP3)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Link is permanent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91706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5043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7B888-B148-31AF-B58B-52734483B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Analytical Model as the Link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27DC26-A26A-7872-0042-CE6B38C2BB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6443" y="1294737"/>
            <a:ext cx="5649617" cy="2922458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This is the most practical approach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Processing the descriptive model as image, or XML file, and offer APIs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noProof="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14675F2-88D6-B4AD-8993-8DB3A9F9BD6E}"/>
              </a:ext>
            </a:extLst>
          </p:cNvPr>
          <p:cNvSpPr/>
          <p:nvPr/>
        </p:nvSpPr>
        <p:spPr>
          <a:xfrm>
            <a:off x="7270698" y="1267220"/>
            <a:ext cx="892883" cy="6117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noProof="0" dirty="0">
                <a:solidFill>
                  <a:sysClr val="windowText" lastClr="000000"/>
                </a:solidFill>
              </a:rPr>
              <a:t>Descriptive Model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4C9BEA7-C20C-2256-73C9-4E1677FE4762}"/>
              </a:ext>
            </a:extLst>
          </p:cNvPr>
          <p:cNvSpPr/>
          <p:nvPr/>
        </p:nvSpPr>
        <p:spPr>
          <a:xfrm>
            <a:off x="6799556" y="2016391"/>
            <a:ext cx="1904119" cy="69207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noProof="0" dirty="0">
              <a:solidFill>
                <a:sysClr val="windowText" lastClr="00000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CB39624-5C83-9C56-E615-43B5241241B2}"/>
              </a:ext>
            </a:extLst>
          </p:cNvPr>
          <p:cNvSpPr txBox="1"/>
          <p:nvPr/>
        </p:nvSpPr>
        <p:spPr>
          <a:xfrm>
            <a:off x="7131273" y="2132830"/>
            <a:ext cx="127233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noProof="0" dirty="0"/>
              <a:t>Analytic Model</a:t>
            </a:r>
          </a:p>
        </p:txBody>
      </p:sp>
      <p:sp>
        <p:nvSpPr>
          <p:cNvPr id="21" name="Down Arrow 20">
            <a:extLst>
              <a:ext uri="{FF2B5EF4-FFF2-40B4-BE49-F238E27FC236}">
                <a16:creationId xmlns:a16="http://schemas.microsoft.com/office/drawing/2014/main" id="{821F0ACA-67C6-43E3-CD8D-0054D1B9962D}"/>
              </a:ext>
            </a:extLst>
          </p:cNvPr>
          <p:cNvSpPr/>
          <p:nvPr/>
        </p:nvSpPr>
        <p:spPr>
          <a:xfrm>
            <a:off x="6926138" y="2172494"/>
            <a:ext cx="179072" cy="369455"/>
          </a:xfrm>
          <a:prstGeom prst="downArrow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Down Arrow 21">
            <a:extLst>
              <a:ext uri="{FF2B5EF4-FFF2-40B4-BE49-F238E27FC236}">
                <a16:creationId xmlns:a16="http://schemas.microsoft.com/office/drawing/2014/main" id="{1EAFF00D-A145-BFB8-C29C-0BF1E38A302C}"/>
              </a:ext>
            </a:extLst>
          </p:cNvPr>
          <p:cNvSpPr/>
          <p:nvPr/>
        </p:nvSpPr>
        <p:spPr>
          <a:xfrm rot="10800000">
            <a:off x="8376357" y="2172494"/>
            <a:ext cx="179072" cy="369455"/>
          </a:xfrm>
          <a:prstGeom prst="downArrow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67DE0D5-16FD-CD85-2494-F926828A6668}"/>
              </a:ext>
            </a:extLst>
          </p:cNvPr>
          <p:cNvSpPr txBox="1"/>
          <p:nvPr/>
        </p:nvSpPr>
        <p:spPr>
          <a:xfrm>
            <a:off x="7287067" y="2356025"/>
            <a:ext cx="946093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/>
              <a:t>As the Link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C222CB6-6ABF-75E6-D842-37B46E1A17A3}"/>
              </a:ext>
            </a:extLst>
          </p:cNvPr>
          <p:cNvSpPr/>
          <p:nvPr/>
        </p:nvSpPr>
        <p:spPr>
          <a:xfrm>
            <a:off x="7270698" y="2848221"/>
            <a:ext cx="892883" cy="61177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noProof="0" dirty="0">
                <a:solidFill>
                  <a:sysClr val="windowText" lastClr="000000"/>
                </a:solidFill>
              </a:rPr>
              <a:t>Analytical Model</a:t>
            </a:r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5592D8F9-9940-70EE-2292-F6CE3052BF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7034714"/>
              </p:ext>
            </p:extLst>
          </p:nvPr>
        </p:nvGraphicFramePr>
        <p:xfrm>
          <a:off x="756443" y="2755966"/>
          <a:ext cx="5413081" cy="16525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7655">
                  <a:extLst>
                    <a:ext uri="{9D8B030D-6E8A-4147-A177-3AD203B41FA5}">
                      <a16:colId xmlns:a16="http://schemas.microsoft.com/office/drawing/2014/main" val="1883619723"/>
                    </a:ext>
                  </a:extLst>
                </a:gridCol>
                <a:gridCol w="2585426">
                  <a:extLst>
                    <a:ext uri="{9D8B030D-6E8A-4147-A177-3AD203B41FA5}">
                      <a16:colId xmlns:a16="http://schemas.microsoft.com/office/drawing/2014/main" val="398982690"/>
                    </a:ext>
                  </a:extLst>
                </a:gridCol>
              </a:tblGrid>
              <a:tr h="39846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Caveats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Benefits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5477528"/>
                  </a:ext>
                </a:extLst>
              </a:tr>
              <a:tr h="398462">
                <a:tc>
                  <a:txBody>
                    <a:bodyPr/>
                    <a:lstStyle/>
                    <a:p>
                      <a:r>
                        <a:rPr lang="en-US" sz="1200" dirty="0"/>
                        <a:t>Hard to process (information loss)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Highly practical and intuitive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5787497"/>
                  </a:ext>
                </a:extLst>
              </a:tr>
              <a:tr h="398462">
                <a:tc>
                  <a:txBody>
                    <a:bodyPr/>
                    <a:lstStyle/>
                    <a:p>
                      <a:r>
                        <a:rPr lang="en-US" sz="1200" dirty="0"/>
                        <a:t>Very tool dependent (Link not permanent)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Can process legacy models (theoretically)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4946248"/>
                  </a:ext>
                </a:extLst>
              </a:tr>
              <a:tr h="398462">
                <a:tc>
                  <a:txBody>
                    <a:bodyPr/>
                    <a:lstStyle/>
                    <a:p>
                      <a:r>
                        <a:rPr lang="en-US" sz="1200" dirty="0"/>
                        <a:t>Cybersecurity threats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Saves money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91706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9716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AD963-47B9-A243-BF20-185E7FEDD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No link, Mix them both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F27B15-E37E-F94A-DABF-0D8348AE16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6444" y="1294737"/>
            <a:ext cx="5576624" cy="1382475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Most modern approach (sysml-v2 based)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noProof="0" dirty="0"/>
              <a:t>Depending on the tool, they are either focused on descriptive OR analytical, with features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2CB767-2AD2-740A-E197-EA6837A075C3}"/>
              </a:ext>
            </a:extLst>
          </p:cNvPr>
          <p:cNvSpPr/>
          <p:nvPr/>
        </p:nvSpPr>
        <p:spPr>
          <a:xfrm>
            <a:off x="6624985" y="1312334"/>
            <a:ext cx="2158794" cy="186266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noProof="0" dirty="0">
              <a:solidFill>
                <a:sysClr val="windowText" lastClr="00000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46FD98-8303-0834-326D-BE2764529F9B}"/>
              </a:ext>
            </a:extLst>
          </p:cNvPr>
          <p:cNvSpPr/>
          <p:nvPr/>
        </p:nvSpPr>
        <p:spPr>
          <a:xfrm>
            <a:off x="6770255" y="1450019"/>
            <a:ext cx="1887397" cy="6117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noProof="0" dirty="0">
                <a:solidFill>
                  <a:sysClr val="windowText" lastClr="000000"/>
                </a:solidFill>
              </a:rPr>
              <a:t>Descriptive Modeling with Analytical Features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BCAFD08-3BAD-EF02-B100-7C1CCB5F1B60}"/>
              </a:ext>
            </a:extLst>
          </p:cNvPr>
          <p:cNvSpPr/>
          <p:nvPr/>
        </p:nvSpPr>
        <p:spPr>
          <a:xfrm>
            <a:off x="6770255" y="2423340"/>
            <a:ext cx="1887397" cy="6117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noProof="0" dirty="0">
                <a:solidFill>
                  <a:sysClr val="windowText" lastClr="000000"/>
                </a:solidFill>
              </a:rPr>
              <a:t>Analytical Modeling with Descriptive Features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DA625F-EAA8-8165-83F6-4013A1CAA0CD}"/>
              </a:ext>
            </a:extLst>
          </p:cNvPr>
          <p:cNvSpPr txBox="1"/>
          <p:nvPr/>
        </p:nvSpPr>
        <p:spPr>
          <a:xfrm>
            <a:off x="7514219" y="2089302"/>
            <a:ext cx="399468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noProof="0" dirty="0"/>
              <a:t>OR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D7835A5-57B8-C4E9-6DC5-96E691D379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4767351"/>
              </p:ext>
            </p:extLst>
          </p:nvPr>
        </p:nvGraphicFramePr>
        <p:xfrm>
          <a:off x="756443" y="2776204"/>
          <a:ext cx="5170852" cy="17113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5426">
                  <a:extLst>
                    <a:ext uri="{9D8B030D-6E8A-4147-A177-3AD203B41FA5}">
                      <a16:colId xmlns:a16="http://schemas.microsoft.com/office/drawing/2014/main" val="1883619723"/>
                    </a:ext>
                  </a:extLst>
                </a:gridCol>
                <a:gridCol w="2585426">
                  <a:extLst>
                    <a:ext uri="{9D8B030D-6E8A-4147-A177-3AD203B41FA5}">
                      <a16:colId xmlns:a16="http://schemas.microsoft.com/office/drawing/2014/main" val="398982690"/>
                    </a:ext>
                  </a:extLst>
                </a:gridCol>
              </a:tblGrid>
              <a:tr h="39846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Caveats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Benefits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5477528"/>
                  </a:ext>
                </a:extLst>
              </a:tr>
              <a:tr h="398462">
                <a:tc>
                  <a:txBody>
                    <a:bodyPr/>
                    <a:lstStyle/>
                    <a:p>
                      <a:r>
                        <a:rPr lang="en-US" sz="1200" dirty="0"/>
                        <a:t>Analytical / Descriptive features are limited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Extremely efficient in what they 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5787497"/>
                  </a:ext>
                </a:extLst>
              </a:tr>
              <a:tr h="398462">
                <a:tc>
                  <a:txBody>
                    <a:bodyPr/>
                    <a:lstStyle/>
                    <a:p>
                      <a:r>
                        <a:rPr lang="en-US" sz="1200" dirty="0"/>
                        <a:t>Legacy models need redefinition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One main platform needed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4946248"/>
                  </a:ext>
                </a:extLst>
              </a:tr>
              <a:tr h="398462">
                <a:tc>
                  <a:txBody>
                    <a:bodyPr/>
                    <a:lstStyle/>
                    <a:p>
                      <a:r>
                        <a:rPr lang="en-US" sz="1200" dirty="0"/>
                        <a:t>Very difficult to work with (either for non technical users or technical ones)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Cost effective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91706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6173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C8D7B-542F-16D0-C25B-E8D20AE7F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The Hidden Aspects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2BFA395-4F3F-9312-756B-DB07D4EE8439}"/>
              </a:ext>
            </a:extLst>
          </p:cNvPr>
          <p:cNvSpPr/>
          <p:nvPr/>
        </p:nvSpPr>
        <p:spPr>
          <a:xfrm>
            <a:off x="1712602" y="1475882"/>
            <a:ext cx="892883" cy="6117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noProof="0" dirty="0">
                <a:solidFill>
                  <a:sysClr val="windowText" lastClr="000000"/>
                </a:solidFill>
              </a:rPr>
              <a:t>Descriptive Model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42DB77-16C1-14A0-75EB-55C990380DA6}"/>
              </a:ext>
            </a:extLst>
          </p:cNvPr>
          <p:cNvSpPr/>
          <p:nvPr/>
        </p:nvSpPr>
        <p:spPr>
          <a:xfrm>
            <a:off x="1732839" y="3124301"/>
            <a:ext cx="892883" cy="61177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noProof="0" dirty="0">
                <a:solidFill>
                  <a:sysClr val="windowText" lastClr="000000"/>
                </a:solidFill>
              </a:rPr>
              <a:t>Analytical Model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5D31EAE-506A-20FD-9D68-B62EB8C2AC02}"/>
              </a:ext>
            </a:extLst>
          </p:cNvPr>
          <p:cNvSpPr/>
          <p:nvPr/>
        </p:nvSpPr>
        <p:spPr>
          <a:xfrm>
            <a:off x="1227219" y="1175800"/>
            <a:ext cx="1904119" cy="121032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noProof="0" dirty="0">
              <a:solidFill>
                <a:sysClr val="windowText" lastClr="000000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B9DD4E8-BD13-D620-AE1E-4E6E0A0C0365}"/>
              </a:ext>
            </a:extLst>
          </p:cNvPr>
          <p:cNvSpPr/>
          <p:nvPr/>
        </p:nvSpPr>
        <p:spPr>
          <a:xfrm>
            <a:off x="1227219" y="2948195"/>
            <a:ext cx="1904119" cy="121032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noProof="0" dirty="0">
              <a:solidFill>
                <a:sysClr val="windowText" lastClr="00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C7349BE-DDA0-C2B6-3A25-B1D8EA0E7ECA}"/>
              </a:ext>
            </a:extLst>
          </p:cNvPr>
          <p:cNvSpPr txBox="1"/>
          <p:nvPr/>
        </p:nvSpPr>
        <p:spPr>
          <a:xfrm>
            <a:off x="1689015" y="3858432"/>
            <a:ext cx="980525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noProof="0" dirty="0"/>
              <a:t>Knowledge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F6E2862-E769-378F-A473-CDB0E4BCA2C3}"/>
              </a:ext>
            </a:extLst>
          </p:cNvPr>
          <p:cNvSpPr txBox="1"/>
          <p:nvPr/>
        </p:nvSpPr>
        <p:spPr>
          <a:xfrm>
            <a:off x="1668782" y="1153156"/>
            <a:ext cx="980525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noProof="0" dirty="0"/>
              <a:t>Knowledge</a:t>
            </a:r>
          </a:p>
        </p:txBody>
      </p:sp>
      <p:sp>
        <p:nvSpPr>
          <p:cNvPr id="15" name="Left-Right Arrow 14">
            <a:extLst>
              <a:ext uri="{FF2B5EF4-FFF2-40B4-BE49-F238E27FC236}">
                <a16:creationId xmlns:a16="http://schemas.microsoft.com/office/drawing/2014/main" id="{4C6F9A7E-D3DB-C7D5-FF48-1D95F0A84E6D}"/>
              </a:ext>
            </a:extLst>
          </p:cNvPr>
          <p:cNvSpPr/>
          <p:nvPr/>
        </p:nvSpPr>
        <p:spPr>
          <a:xfrm rot="16200000">
            <a:off x="2205011" y="2568303"/>
            <a:ext cx="405090" cy="161427"/>
          </a:xfrm>
          <a:prstGeom prst="leftRightArrow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Left-Right Arrow 15">
            <a:extLst>
              <a:ext uri="{FF2B5EF4-FFF2-40B4-BE49-F238E27FC236}">
                <a16:creationId xmlns:a16="http://schemas.microsoft.com/office/drawing/2014/main" id="{FAA65D2C-6C6A-161D-6A6C-087C4E79ACD6}"/>
              </a:ext>
            </a:extLst>
          </p:cNvPr>
          <p:cNvSpPr/>
          <p:nvPr/>
        </p:nvSpPr>
        <p:spPr>
          <a:xfrm rot="16200000">
            <a:off x="1479326" y="2376434"/>
            <a:ext cx="1069529" cy="426204"/>
          </a:xfrm>
          <a:prstGeom prst="leftRightArrow">
            <a:avLst/>
          </a:prstGeom>
          <a:solidFill>
            <a:srgbClr val="FF0000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8C6E038-F20A-F6AB-F524-A689EA99B43C}"/>
              </a:ext>
            </a:extLst>
          </p:cNvPr>
          <p:cNvSpPr txBox="1"/>
          <p:nvPr/>
        </p:nvSpPr>
        <p:spPr>
          <a:xfrm>
            <a:off x="29383" y="2343731"/>
            <a:ext cx="126174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/>
              <a:t>What </a:t>
            </a:r>
            <a:r>
              <a:rPr lang="en-US" b="1" i="1" noProof="0" dirty="0"/>
              <a:t>appears</a:t>
            </a:r>
            <a:r>
              <a:rPr lang="en-US" b="1" noProof="0" dirty="0"/>
              <a:t> to be missing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5724ABD-816C-095D-B5AE-90B702C8C90A}"/>
              </a:ext>
            </a:extLst>
          </p:cNvPr>
          <p:cNvSpPr txBox="1"/>
          <p:nvPr/>
        </p:nvSpPr>
        <p:spPr>
          <a:xfrm>
            <a:off x="2993179" y="2493606"/>
            <a:ext cx="129603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/>
              <a:t>What </a:t>
            </a:r>
            <a:r>
              <a:rPr lang="en-US" b="1" i="1" noProof="0" dirty="0"/>
              <a:t>actually</a:t>
            </a:r>
            <a:r>
              <a:rPr lang="en-US" b="1" noProof="0" dirty="0"/>
              <a:t> is missing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271DD22-5B3D-4D3F-FB10-B2654BEA17FC}"/>
              </a:ext>
            </a:extLst>
          </p:cNvPr>
          <p:cNvCxnSpPr>
            <a:cxnSpLocks/>
          </p:cNvCxnSpPr>
          <p:nvPr/>
        </p:nvCxnSpPr>
        <p:spPr>
          <a:xfrm>
            <a:off x="1188532" y="2625526"/>
            <a:ext cx="715057" cy="10000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A4133EB-9341-F086-FE61-A0B11FBCEBA1}"/>
              </a:ext>
            </a:extLst>
          </p:cNvPr>
          <p:cNvCxnSpPr>
            <a:cxnSpLocks/>
            <a:stCxn id="18" idx="1"/>
          </p:cNvCxnSpPr>
          <p:nvPr/>
        </p:nvCxnSpPr>
        <p:spPr>
          <a:xfrm flipH="1" flipV="1">
            <a:off x="2587919" y="2725534"/>
            <a:ext cx="405260" cy="2198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Picture 34">
            <a:extLst>
              <a:ext uri="{FF2B5EF4-FFF2-40B4-BE49-F238E27FC236}">
                <a16:creationId xmlns:a16="http://schemas.microsoft.com/office/drawing/2014/main" id="{12A90152-5C08-5D75-C374-1605484DD3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5379" y="1121915"/>
            <a:ext cx="3073400" cy="3086100"/>
          </a:xfrm>
          <a:prstGeom prst="rect">
            <a:avLst/>
          </a:prstGeom>
          <a:scene3d>
            <a:camera prst="isometricLeftDown"/>
            <a:lightRig rig="threePt" dir="t"/>
          </a:scene3d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F92A6E22-6B89-0D80-D335-855C632294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6491" y="1196516"/>
            <a:ext cx="2603500" cy="2273300"/>
          </a:xfrm>
          <a:prstGeom prst="rect">
            <a:avLst/>
          </a:prstGeom>
          <a:scene3d>
            <a:camera prst="isometricLeftDown"/>
            <a:lightRig rig="threePt" dir="t"/>
          </a:scene3d>
        </p:spPr>
      </p:pic>
      <p:pic>
        <p:nvPicPr>
          <p:cNvPr id="38" name="Graphic 37" descr="Man with solid fill">
            <a:extLst>
              <a:ext uri="{FF2B5EF4-FFF2-40B4-BE49-F238E27FC236}">
                <a16:creationId xmlns:a16="http://schemas.microsoft.com/office/drawing/2014/main" id="{C93970D4-3709-763E-A487-A18D59F964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56059" y="1418766"/>
            <a:ext cx="914400" cy="914400"/>
          </a:xfrm>
          <a:prstGeom prst="rect">
            <a:avLst/>
          </a:prstGeom>
          <a:scene3d>
            <a:camera prst="isometricLeftDown"/>
            <a:lightRig rig="threePt" dir="t"/>
          </a:scene3d>
        </p:spPr>
      </p:pic>
      <p:pic>
        <p:nvPicPr>
          <p:cNvPr id="39" name="Graphic 38" descr="Man with solid fill">
            <a:extLst>
              <a:ext uri="{FF2B5EF4-FFF2-40B4-BE49-F238E27FC236}">
                <a16:creationId xmlns:a16="http://schemas.microsoft.com/office/drawing/2014/main" id="{9B5F2DC0-4732-5713-89BB-9E634BCF5E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1794" y="2933467"/>
            <a:ext cx="914400" cy="914400"/>
          </a:xfrm>
          <a:prstGeom prst="rect">
            <a:avLst/>
          </a:prstGeom>
          <a:scene3d>
            <a:camera prst="isometricLeftDown"/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1262022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2341B-9E36-3D22-6CF9-0F9162511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Hypothesis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097E8-1EBC-D539-6831-E40768B382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Human brain should never be used as a storage for knowledge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Due to a large variety of model types, notations, use cases, audience, </a:t>
            </a:r>
            <a:r>
              <a:rPr lang="en-US" dirty="0" err="1"/>
              <a:t>etc</a:t>
            </a:r>
            <a:r>
              <a:rPr lang="en-US" dirty="0"/>
              <a:t>, it is IMPOSSIBLE to link them all, unless…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Models are linked with a </a:t>
            </a:r>
            <a:r>
              <a:rPr lang="en-US" i="1" dirty="0"/>
              <a:t>shared</a:t>
            </a:r>
            <a:r>
              <a:rPr lang="en-US" dirty="0"/>
              <a:t> knowledge repository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Knowledge repository should be able to generate both descriptive and analytical models using standard notations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9166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60852CE-F3FB-B5A4-1000-4BB4BD18AFB0}"/>
              </a:ext>
            </a:extLst>
          </p:cNvPr>
          <p:cNvSpPr/>
          <p:nvPr/>
        </p:nvSpPr>
        <p:spPr>
          <a:xfrm>
            <a:off x="3703419" y="2168638"/>
            <a:ext cx="1634836" cy="8075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/>
              <a:t>Knowledge Repository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4B1BCD-531C-7CE4-F8FB-1BCE7325317F}"/>
              </a:ext>
            </a:extLst>
          </p:cNvPr>
          <p:cNvSpPr/>
          <p:nvPr/>
        </p:nvSpPr>
        <p:spPr>
          <a:xfrm>
            <a:off x="1213729" y="1885950"/>
            <a:ext cx="1634836" cy="1371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Knowledge Receival</a:t>
            </a:r>
            <a:endParaRPr lang="en-US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B3D6C6A-D88D-BE5E-E296-48558330B288}"/>
              </a:ext>
            </a:extLst>
          </p:cNvPr>
          <p:cNvSpPr/>
          <p:nvPr/>
        </p:nvSpPr>
        <p:spPr>
          <a:xfrm>
            <a:off x="6193109" y="1884419"/>
            <a:ext cx="1634836" cy="1371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/>
              <a:t>Knowledge Retrieval</a:t>
            </a:r>
          </a:p>
        </p:txBody>
      </p:sp>
      <p:sp>
        <p:nvSpPr>
          <p:cNvPr id="7" name="Trapezoid 6">
            <a:extLst>
              <a:ext uri="{FF2B5EF4-FFF2-40B4-BE49-F238E27FC236}">
                <a16:creationId xmlns:a16="http://schemas.microsoft.com/office/drawing/2014/main" id="{975CF349-3ACC-939B-B705-A0FC63F25287}"/>
              </a:ext>
            </a:extLst>
          </p:cNvPr>
          <p:cNvSpPr/>
          <p:nvPr/>
        </p:nvSpPr>
        <p:spPr>
          <a:xfrm rot="5400000">
            <a:off x="2585045" y="2199220"/>
            <a:ext cx="1371600" cy="761876"/>
          </a:xfrm>
          <a:prstGeom prst="trapezoid">
            <a:avLst>
              <a:gd name="adj" fmla="val 3674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Encoding</a:t>
            </a:r>
          </a:p>
        </p:txBody>
      </p:sp>
      <p:sp>
        <p:nvSpPr>
          <p:cNvPr id="8" name="Trapezoid 7">
            <a:extLst>
              <a:ext uri="{FF2B5EF4-FFF2-40B4-BE49-F238E27FC236}">
                <a16:creationId xmlns:a16="http://schemas.microsoft.com/office/drawing/2014/main" id="{ED9399FD-E44D-D5E6-BDCF-FD5564923156}"/>
              </a:ext>
            </a:extLst>
          </p:cNvPr>
          <p:cNvSpPr/>
          <p:nvPr/>
        </p:nvSpPr>
        <p:spPr>
          <a:xfrm rot="16200000" flipH="1">
            <a:off x="5079882" y="2189281"/>
            <a:ext cx="1371600" cy="761876"/>
          </a:xfrm>
          <a:prstGeom prst="trapezoid">
            <a:avLst>
              <a:gd name="adj" fmla="val 3674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Decoding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F0B07CF-F23C-FEFE-5907-AC70D06F9104}"/>
              </a:ext>
            </a:extLst>
          </p:cNvPr>
          <p:cNvSpPr txBox="1">
            <a:spLocks/>
          </p:cNvSpPr>
          <p:nvPr/>
        </p:nvSpPr>
        <p:spPr>
          <a:xfrm>
            <a:off x="742587" y="1121778"/>
            <a:ext cx="7556500" cy="53903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685800" rtl="0" eaLnBrk="1" latinLnBrk="0" hangingPunct="1">
              <a:lnSpc>
                <a:spcPts val="2700"/>
              </a:lnSpc>
              <a:spcBef>
                <a:spcPct val="0"/>
              </a:spcBef>
              <a:buNone/>
              <a:defRPr sz="27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Knowledge-Based Systems Engineering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F515A7F-0350-9B2E-B259-383C77006BB8}"/>
              </a:ext>
            </a:extLst>
          </p:cNvPr>
          <p:cNvSpPr/>
          <p:nvPr/>
        </p:nvSpPr>
        <p:spPr>
          <a:xfrm>
            <a:off x="844912" y="864704"/>
            <a:ext cx="7454175" cy="2842592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511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F23F4-0911-1D63-71C0-919A99D13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443" y="518711"/>
            <a:ext cx="1768096" cy="1280272"/>
          </a:xfrm>
        </p:spPr>
        <p:txBody>
          <a:bodyPr/>
          <a:lstStyle/>
          <a:p>
            <a:r>
              <a:rPr lang="en-US" noProof="0" dirty="0"/>
              <a:t>Knowledge Graph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CB97891-7045-199E-E9D7-9EB28672C0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0522" y="837908"/>
            <a:ext cx="5995848" cy="3467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183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2D67E-83A6-E8CB-4B12-A7AAFFFFA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Knowledge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4AE0D2-4B65-3A17-DBF5-B04DF4DBE3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Models are linked to humans</a:t>
            </a:r>
          </a:p>
          <a:p>
            <a:r>
              <a:rPr lang="en-US" dirty="0"/>
              <a:t>Humans are linked to Knowledge areas</a:t>
            </a:r>
          </a:p>
          <a:p>
            <a:endParaRPr lang="en-US" dirty="0"/>
          </a:p>
          <a:p>
            <a:r>
              <a:rPr lang="en-US" dirty="0"/>
              <a:t>As long as knowledge areas are not integrated, models will remain unlinked</a:t>
            </a:r>
          </a:p>
        </p:txBody>
      </p:sp>
    </p:spTree>
    <p:extLst>
      <p:ext uri="{BB962C8B-B14F-4D97-AF65-F5344CB8AC3E}">
        <p14:creationId xmlns:p14="http://schemas.microsoft.com/office/powerpoint/2010/main" val="89738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939CD-1D77-715E-EDB7-B770783D8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Identified 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56DA9E-5864-B4C3-73E5-968D3ACD07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6443" y="1057749"/>
            <a:ext cx="3926393" cy="2704608"/>
          </a:xfrm>
        </p:spPr>
        <p:txBody>
          <a:bodyPr/>
          <a:lstStyle/>
          <a:p>
            <a:r>
              <a:rPr lang="en-US" noProof="0" dirty="0"/>
              <a:t>AI is not an option, it’s the only way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70DA67E-6D6B-880B-2592-2A2C7E75EB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8503" y="1057749"/>
            <a:ext cx="3696526" cy="3271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9740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3277180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Kantoorthema">
  <a:themeElements>
    <a:clrScheme name="TUe_PPT_V2">
      <a:dk1>
        <a:sysClr val="windowText" lastClr="000000"/>
      </a:dk1>
      <a:lt1>
        <a:sysClr val="window" lastClr="FFFFFF"/>
      </a:lt1>
      <a:dk2>
        <a:srgbClr val="C81919"/>
      </a:dk2>
      <a:lt2>
        <a:srgbClr val="101073"/>
      </a:lt2>
      <a:accent1>
        <a:srgbClr val="C81919"/>
      </a:accent1>
      <a:accent2>
        <a:srgbClr val="9E9EB1"/>
      </a:accent2>
      <a:accent3>
        <a:srgbClr val="0092B5"/>
      </a:accent3>
      <a:accent4>
        <a:srgbClr val="FF9A00"/>
      </a:accent4>
      <a:accent5>
        <a:srgbClr val="101073"/>
      </a:accent5>
      <a:accent6>
        <a:srgbClr val="CEDF00"/>
      </a:accent6>
      <a:hlink>
        <a:srgbClr val="0563C1"/>
      </a:hlink>
      <a:folHlink>
        <a:srgbClr val="954F72"/>
      </a:folHlink>
    </a:clrScheme>
    <a:fontScheme name="TUe_Calibr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Kantoor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Ue 16x9 EN" id="{97F7A710-2E0D-45AA-B405-AD861E979FF9}" vid="{7E68701C-E484-4FA9-9B1A-14938FE65080}"/>
    </a:ext>
  </a:extLst>
</a:theme>
</file>

<file path=ppt/theme/theme2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toor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dc81a03-33f5-430d-a427-dfbddb1fb524">
      <Terms xmlns="http://schemas.microsoft.com/office/infopath/2007/PartnerControls"/>
    </lcf76f155ced4ddcb4097134ff3c332f>
    <TaxCatchAll xmlns="89addd5d-1b61-4a22-b114-f0fd8c2dcf23" xsi:nil="true"/>
  </documentManagement>
</p:properties>
</file>

<file path=customXml/item3.xml><?xml version="1.0" encoding="utf-8"?>
<TemplafySlideTemplateConfiguration><![CDATA[{"slideVersion":1,"isValidatorEnabled":false,"isLocked":false,"elementsMetadata":[],"slideId":"638351419723556149","enableDocumentContentUpdater":false,"version":"2.0"}]]></TemplafySlideTemplateConfiguration>
</file>

<file path=customXml/item4.xml><?xml version="1.0" encoding="utf-8"?>
<TemplafySlideFormConfiguration><![CDATA[{"formFields":[{"required":false,"placeholder":"","lines":1,"shareValue":false,"type":"textBox","name":"Title","label":"Title"},{"required":false,"placeholder":"Write a subtitle or a date here","lines":1,"shareValue":false,"type":"textBox","name":"Subtitle","label":"Subtitle"}],"formDataEntries":[]}]]></TemplafySlideFormConfiguration>
</file>

<file path=customXml/item5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3F465149FB9C5448C8CF5199B7F8DE2" ma:contentTypeVersion="10" ma:contentTypeDescription="Create a new document." ma:contentTypeScope="" ma:versionID="8cd7095fbec53cd6e9b4b528d8a754c1">
  <xsd:schema xmlns:xsd="http://www.w3.org/2001/XMLSchema" xmlns:xs="http://www.w3.org/2001/XMLSchema" xmlns:p="http://schemas.microsoft.com/office/2006/metadata/properties" xmlns:ns2="adc81a03-33f5-430d-a427-dfbddb1fb524" xmlns:ns3="89addd5d-1b61-4a22-b114-f0fd8c2dcf23" targetNamespace="http://schemas.microsoft.com/office/2006/metadata/properties" ma:root="true" ma:fieldsID="6f9faedb4f7c4312b114ec66ff6b5f83" ns2:_="" ns3:_="">
    <xsd:import namespace="adc81a03-33f5-430d-a427-dfbddb1fb524"/>
    <xsd:import namespace="89addd5d-1b61-4a22-b114-f0fd8c2dcf23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dc81a03-33f5-430d-a427-dfbddb1fb524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5f80264a-99e7-47cd-820c-3e92ce78c5e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9addd5d-1b61-4a22-b114-f0fd8c2dcf23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d7b29c17-ece9-467f-b874-d1c31772652f}" ma:internalName="TaxCatchAll" ma:showField="CatchAllData" ma:web="89addd5d-1b61-4a22-b114-f0fd8c2dcf2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6.xml><?xml version="1.0" encoding="utf-8"?>
<TemplafyFormConfiguration><![CDATA[{"formFields":[{"required":false,"placeholder":"","lines":1,"shareValue":false,"type":"textBox","name":"Title","label":"Title"},{"required":false,"placeholder":"Write a subtitle or a date here","lines":1,"shareValue":false,"type":"textBox","name":"Subtitle","label":"Subtitle"},{"distinct":false,"hideIfNoUserInteractionRequired":false,"required":false,"defaultValue":"English (United States) (en-US)","autoSelectFirstOption":false,"helpTexts":{},"spacing":{},"shareValue":false,"type":"dropDown","dataSourceName":"Languages","dataSourceFieldName":"Name","name":"Language","label":"Language"},{"helpTexts":{},"spacing":{},"shareValue":false,"type":"checkBox","name":"ShowPowerPointInstructions","label":"Show PowerPoint instructions"}],"formDataEntries":[{"name":"Title","value":"eu4Owlo/FPCohSwkIJyx1Q=="},{"name":"Subtitle","value":"19hkcit5tGnwft36tb/4OI2IQOzf5pENHJcQTMzNQL4="},{"name":"Language","value":"abeq91JDhYTls/ygBdNhWNG4z6ah1Z8NlH8bM4Qtj1w="},{"name":"ShowPowerPointInstructions","value":"g7RW92AybdteY/S0zarayw=="}]}]]></TemplafyFormConfiguration>
</file>

<file path=customXml/item7.xml><?xml version="1.0" encoding="utf-8"?>
<TemplafyTemplateConfiguration><![CDATA[{"elementsMetadata":[{"type":"shape","id":"3093273a-680f-4802-91c8-5822ae71304c","elementConfiguration":{"binding":"{{Form.Title}}","visibility":"","type":"text","disableUpdates":false}},{"type":"shape","id":"a319365d-1bdc-4cd5-8217-d38f95588f33","elementConfiguration":{"binding":"{{UserProfile.Department}}","visibility":"","type":"text","disableUpdates":false}},{"type":"shape","id":"82753c11-9c27-4ae5-95f8-efe8694ad8e6","elementConfiguration":{"binding":"{{UserProfile.DisplayName}}, {{UserProfile.JobTitle}}","visibility":"","type":"text","disableUpdates":false}},{"type":"shape","id":"f968fff4-206d-4ae2-bcd1-8dde7376f40f","elementConfiguration":{"binding":"{{Form.Title}}","visibility":"","type":"text","disableUpdates":false}},{"type":"shape","id":"d5e4e40c-3f52-44bb-bd94-0c2e857cdb17","elementConfiguration":{"binding":"{{Form.Subtitle}}","visibility":"","type":"text","disableUpdates":false}},{"type":"shape","id":"dabe0df5-77b0-4bb4-8e04-2c5ab0300a38","elementConfiguration":{"inheritDimensions":"{{InheritDimensions.InheritNone}}","width":"4.91 cm","height":"9.66 cm","image":"{{DataSources.PowerPointInstructions[\"Instructions\"].Image}}","visibility":"{{IfElse(Form.ShowPowerPointInstructions, VisibilityType.Visible, VisibilityType.Hidden)}}","type":"image","disableUpdates":false}},{"type":"shape","id":"9c7a5cb5-8144-4203-97c6-a0d35d233a00","elementConfiguration":{"binding":"{{UserProfile.Department}}","visibility":"","type":"text","disableUpdates":false}},{"type":"shape","id":"436d1937-4d56-4636-aae6-ee6b855a9e92","elementConfiguration":{"binding":"{{UserProfile.DisplayName}}, {{UserProfile.JobTitle}}","visibility":"","type":"text","disableUpdates":false}},{"type":"shape","id":"9cb4fe64-f1f7-4586-bb2d-6aedacc7ca68","elementConfiguration":{"binding":"{{Form.Title}}","visibility":"","type":"text","disableUpdates":false}},{"type":"shape","id":"8676d802-0bb3-4be6-a485-a42ca1296321","elementConfiguration":{"binding":"{{Form.Subtitle}}","visibility":"","type":"text","disableUpdates":false}},{"type":"shape","id":"1120b0c9-d33b-4baf-add8-56ea532d7515","elementConfiguration":{"inheritDimensions":"{{InheritDimensions.InheritNone}}","width":"4.91 cm","height":"9.66 cm","image":"{{DataSources.PowerPointInstructions[\"Instructions\"].Image}}","visibility":"{{IfElse(Form.ShowPowerPointInstructions, VisibilityType.Visible, VisibilityType.Hidden)}}","type":"image","disableUpdates":false}},{"type":"shape","id":"0e5b527a-3d90-4e88-a06e-e938b7f1c9b6","elementConfiguration":{"binding":"{{UserProfile.Department}}","visibility":"","type":"text","disableUpdates":false}},{"type":"shape","id":"50bcac18-bc09-4bfd-a03e-a918438f2568","elementConfiguration":{"binding":"{{Form.Title}}","visibility":"","type":"text","disableUpdates":false}},{"type":"shape","id":"3f2967ac-5798-4c72-b5bd-353602e77653","elementConfiguration":{"binding":"{{Form.Subtitle}}","visibility":"","type":"text","disableUpdates":false}},{"type":"shape","id":"5871fdfc-1616-482a-b92a-57a54a74cf93","elementConfiguration":{"binding":"{{UserProfile.DisplayName}}, {{UserProfile.JobTitle}}","visibility":"","type":"text","disableUpdates":false}},{"type":"shape","id":"f5a7761c-cf48-492a-9f48-35d6978b765b","elementConfiguration":{"inheritDimensions":"{{InheritDimensions.InheritNone}}","width":"4.91 cm","height":"9.66 cm","image":"{{DataSources.PowerPointInstructions[\"Instructions\"].Image}}","visibility":"{{IfElse(Form.ShowPowerPointInstructions, VisibilityType.Visible, VisibilityType.Hidden)}}","type":"image","disableUpdates":false}},{"type":"shape","id":"87548106-368b-4e2a-8d17-87420d681e29","elementConfiguration":{"inheritDimensions":"{{InheritDimensions.InheritNone}}","width":"4.91 cm","height":"9.66 cm","image":"{{DataSources.PowerPointInstructions[\"Instructions\"].Image}}","visibility":"{{IfElse(Form.ShowPowerPointInstructions, VisibilityType.Visible, VisibilityType.Hidden)}}","type":"image","disableUpdates":false}},{"type":"shape","id":"354f1681-864a-416c-8c71-142c22f890c7","elementConfiguration":{"inheritDimensions":"{{InheritDimensions.InheritNone}}","width":"4.91 cm","height":"9.66 cm","image":"{{DataSources.PowerPointInstructions[\"Instructions\"].Image}}","visibility":"{{IfElse(Form.ShowPowerPointInstructions, VisibilityType.Visible, VisibilityType.Hidden)}}","type":"image","disableUpdates":false}},{"type":"shape","id":"9d9cd7d2-12ec-4c65-8c77-2a3d1eabdf6c","elementConfiguration":{"inheritDimensions":"{{InheritDimensions.InheritNone}}","width":"4.91 cm","height":"9.66 cm","image":"{{DataSources.PowerPointInstructions[\"Instructions\"].Image}}","visibility":"{{IfElse(Form.ShowPowerPointInstructions, VisibilityType.Visible, VisibilityType.Hidden)}}","type":"image","disableUpdates":false}},{"type":"shape","id":"d1b58bd7-7598-486e-9a89-256bb44d1248","elementConfiguration":{"inheritDimensions":"{{InheritDimensions.InheritNone}}","width":"4.91 cm","height":"9.66 cm","image":"{{DataSources.PowerPointInstructions[\"Instructions\"].Image}}","visibility":"{{IfElse(Form.ShowPowerPointInstructions, VisibilityType.Visible, VisibilityType.Hidden)}}","type":"image","disableUpdates":false}},{"type":"shape","id":"da8acce6-7b5a-4867-be02-c453b958f46c","elementConfiguration":{"inheritDimensions":"{{InheritDimensions.InheritNone}}","width":"4.91 cm","height":"9.66 cm","image":"{{DataSources.PowerPointInstructions[\"Instructions\"].Image}}","visibility":"{{IfElse(Form.ShowPowerPointInstructions, VisibilityType.Visible, VisibilityType.Hidden)}}","type":"image","disableUpdates":false}}],"transformationConfigurations":[{"documentName":"TUe presentation {{StringJoin(\" \", Form.Title, Form.Subtitle)}}","type":"documentName"},{"language":"{{Form.Language.Language}}","disableUpdates":false,"type":"proofingLanguage"}],"templateName":"TUe 16x9 Dynamic","templateDescription":"","enableDocumentContentUpdater":true,"version":"2.0"}]]></TemplafyTemplateConfiguration>
</file>

<file path=customXml/item8.xml><?xml version="1.0" encoding="utf-8"?>
<TemplafySlideTemplateConfiguration><![CDATA[{"slideVersion":1,"isValidatorEnabled":false,"isLocked":false,"elementsMetadata":[{"type":"shape","elementConfiguration":{"binding":"{{UserProfile.Department}}","visibility":"","type":"text","disableUpdates":false}},{"type":"shape","elementConfiguration":{"binding":"{{UserProfile.DisplayName}}, {{UserProfile.JobTitle}}","visibility":"","type":"text","disableUpdates":false}},{"type":"shape","elementConfiguration":{"binding":"{{Form.Title}}","visibility":"","type":"text","disableUpdates":false}},{"type":"shape","elementConfiguration":{"binding":"{{Form.Subtitle}}","visibility":"","type":"text","disableUpdates":false}}],"slideId":"638351419723211212","enableDocumentContentUpdater":false,"version":"2.0"}]]></TemplafySlideTemplateConfiguration>
</file>

<file path=customXml/item9.xml><?xml version="1.0" encoding="utf-8"?>
<TemplafySlideFormConfiguration><![CDATA[{"formFields":[],"formDataEntries":[]}]]></TemplafySlideFormConfiguration>
</file>

<file path=customXml/itemProps1.xml><?xml version="1.0" encoding="utf-8"?>
<ds:datastoreItem xmlns:ds="http://schemas.openxmlformats.org/officeDocument/2006/customXml" ds:itemID="{30B7C04D-9D5F-4F98-B86E-9544BFD1410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98BD6EC-9107-4563-AC4A-8434E9808CDB}">
  <ds:schemaRefs>
    <ds:schemaRef ds:uri="http://schemas.microsoft.com/office/2006/metadata/properties"/>
    <ds:schemaRef ds:uri="http://schemas.microsoft.com/office/infopath/2007/PartnerControls"/>
    <ds:schemaRef ds:uri="2f7262f3-19e3-4c38-834c-996e2cec5b6c"/>
    <ds:schemaRef ds:uri="6b2685c3-cb74-402e-89a3-cd359bd59e48"/>
    <ds:schemaRef ds:uri="adc81a03-33f5-430d-a427-dfbddb1fb524"/>
    <ds:schemaRef ds:uri="89addd5d-1b61-4a22-b114-f0fd8c2dcf23"/>
  </ds:schemaRefs>
</ds:datastoreItem>
</file>

<file path=customXml/itemProps3.xml><?xml version="1.0" encoding="utf-8"?>
<ds:datastoreItem xmlns:ds="http://schemas.openxmlformats.org/officeDocument/2006/customXml" ds:itemID="{3363B716-1B3F-4EF4-A645-2849D6A2A1C7}">
  <ds:schemaRefs/>
</ds:datastoreItem>
</file>

<file path=customXml/itemProps4.xml><?xml version="1.0" encoding="utf-8"?>
<ds:datastoreItem xmlns:ds="http://schemas.openxmlformats.org/officeDocument/2006/customXml" ds:itemID="{400AE978-C982-4764-8B5A-A9725C7AA005}">
  <ds:schemaRefs/>
</ds:datastoreItem>
</file>

<file path=customXml/itemProps5.xml><?xml version="1.0" encoding="utf-8"?>
<ds:datastoreItem xmlns:ds="http://schemas.openxmlformats.org/officeDocument/2006/customXml" ds:itemID="{944185D8-EC9F-4A5A-93F0-FC5FEC52BA6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dc81a03-33f5-430d-a427-dfbddb1fb524"/>
    <ds:schemaRef ds:uri="89addd5d-1b61-4a22-b114-f0fd8c2dcf2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6.xml><?xml version="1.0" encoding="utf-8"?>
<ds:datastoreItem xmlns:ds="http://schemas.openxmlformats.org/officeDocument/2006/customXml" ds:itemID="{FB08C246-4216-47B9-B943-2D4F1A392C3F}">
  <ds:schemaRefs/>
</ds:datastoreItem>
</file>

<file path=customXml/itemProps7.xml><?xml version="1.0" encoding="utf-8"?>
<ds:datastoreItem xmlns:ds="http://schemas.openxmlformats.org/officeDocument/2006/customXml" ds:itemID="{9095741A-CCDF-4B58-ADBB-E7CDCD30ED42}">
  <ds:schemaRefs/>
</ds:datastoreItem>
</file>

<file path=customXml/itemProps8.xml><?xml version="1.0" encoding="utf-8"?>
<ds:datastoreItem xmlns:ds="http://schemas.openxmlformats.org/officeDocument/2006/customXml" ds:itemID="{1E4E5DBF-1B01-4344-9330-851E2AF998FF}">
  <ds:schemaRefs/>
</ds:datastoreItem>
</file>

<file path=customXml/itemProps9.xml><?xml version="1.0" encoding="utf-8"?>
<ds:datastoreItem xmlns:ds="http://schemas.openxmlformats.org/officeDocument/2006/customXml" ds:itemID="{3CEDE958-A289-4F43-AB16-8D80F6812CD1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Kantoorthema</Template>
  <TotalTime>10179</TotalTime>
  <Words>554</Words>
  <Application>Microsoft Macintosh PowerPoint</Application>
  <PresentationFormat>On-screen Show (16:9)</PresentationFormat>
  <Paragraphs>122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Kantoorthema</vt:lpstr>
      <vt:lpstr>PowerPoint Presentation</vt:lpstr>
      <vt:lpstr>PowerPoint Presentation</vt:lpstr>
      <vt:lpstr>An Example</vt:lpstr>
      <vt:lpstr>Systematic Mapping Study (SMS)</vt:lpstr>
      <vt:lpstr>Different MBSE Approaches</vt:lpstr>
      <vt:lpstr>Descriptive Model as the Link</vt:lpstr>
      <vt:lpstr>Analytical Model as the Link</vt:lpstr>
      <vt:lpstr>No link, Mix them both</vt:lpstr>
      <vt:lpstr>The Hidden Aspects</vt:lpstr>
      <vt:lpstr>Research Hypothesis</vt:lpstr>
      <vt:lpstr>PowerPoint Presentation</vt:lpstr>
      <vt:lpstr>Knowledge Graph</vt:lpstr>
      <vt:lpstr>Knowledge Management</vt:lpstr>
      <vt:lpstr>Identified Challenges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Moosavi Lar, Sadra</dc:creator>
  <cp:lastModifiedBy>Moosavi Lar, Sadra</cp:lastModifiedBy>
  <cp:revision>21</cp:revision>
  <dcterms:created xsi:type="dcterms:W3CDTF">2025-12-18T10:00:57Z</dcterms:created>
  <dcterms:modified xsi:type="dcterms:W3CDTF">2026-01-07T15:52:02Z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0x01010033F465149FB9C5448C8CF5199B7F8DE2</vt:lpwstr>
  </property>
  <property fmtid="{D5CDD505-2E9C-101B-9397-08002B2CF9AE}" pid="3" name="MediaServiceImageTags">
    <vt:lpwstr/>
  </property>
  <property fmtid="{D5CDD505-2E9C-101B-9397-08002B2CF9AE}" pid="4" name="TemplafyTimeStamp">
    <vt:lpwstr>2023-11-09T15:52:52</vt:lpwstr>
  </property>
  <property fmtid="{D5CDD505-2E9C-101B-9397-08002B2CF9AE}" pid="5" name="TemplafyTenantId">
    <vt:lpwstr>tue</vt:lpwstr>
  </property>
  <property fmtid="{D5CDD505-2E9C-101B-9397-08002B2CF9AE}" pid="6" name="TemplafyTemplateId">
    <vt:lpwstr>773602689983971800</vt:lpwstr>
  </property>
  <property fmtid="{D5CDD505-2E9C-101B-9397-08002B2CF9AE}" pid="7" name="TemplafyUserProfileId">
    <vt:lpwstr>997763534791376972</vt:lpwstr>
  </property>
  <property fmtid="{D5CDD505-2E9C-101B-9397-08002B2CF9AE}" pid="8" name="TemplafyLanguageCode">
    <vt:lpwstr>nl-NL</vt:lpwstr>
  </property>
  <property fmtid="{D5CDD505-2E9C-101B-9397-08002B2CF9AE}" pid="9" name="TemplafyFromBlank">
    <vt:bool>false</vt:bool>
  </property>
</Properties>
</file>