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2"/>
  </p:sldMasterIdLst>
  <p:notesMasterIdLst>
    <p:notesMasterId r:id="rId23"/>
  </p:notesMasterIdLst>
  <p:sldIdLst>
    <p:sldId id="268" r:id="rId13"/>
    <p:sldId id="273" r:id="rId14"/>
    <p:sldId id="279" r:id="rId15"/>
    <p:sldId id="274" r:id="rId16"/>
    <p:sldId id="271" r:id="rId17"/>
    <p:sldId id="276" r:id="rId18"/>
    <p:sldId id="278" r:id="rId19"/>
    <p:sldId id="277" r:id="rId20"/>
    <p:sldId id="269" r:id="rId21"/>
    <p:sldId id="270" r:id="rId22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8E8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6433" autoAdjust="0"/>
  </p:normalViewPr>
  <p:slideViewPr>
    <p:cSldViewPr snapToGrid="0" showGuides="1">
      <p:cViewPr>
        <p:scale>
          <a:sx n="108" d="100"/>
          <a:sy n="108" d="100"/>
        </p:scale>
        <p:origin x="1696" y="704"/>
      </p:cViewPr>
      <p:guideLst/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5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notesMaster" Target="notesMasters/notesMaster1.xml"/><Relationship Id="rId10" Type="http://schemas.openxmlformats.org/officeDocument/2006/relationships/customXml" Target="../customXml/item10.xml"/><Relationship Id="rId19" Type="http://schemas.openxmlformats.org/officeDocument/2006/relationships/slide" Target="slides/slide7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1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descr="{&quot;templafy&quot;:{&quot;id&quot;:&quot;0e5b527a-3d90-4e88-a06e-e938b7f1c9b6&quot;}}">
            <a:extLst>
              <a:ext uri="{FF2B5EF4-FFF2-40B4-BE49-F238E27FC236}">
                <a16:creationId xmlns:a16="http://schemas.microsoft.com/office/drawing/2014/main" id="{3A915C78-7D6E-1295-0948-C16B4CAD7BAC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5" name="Rectangle 4" descr="{&quot;templafy&quot;:{&quot;id&quot;:&quot;50bcac18-bc09-4bfd-a03e-a918438f2568&quot;}}">
            <a:extLst>
              <a:ext uri="{FF2B5EF4-FFF2-40B4-BE49-F238E27FC236}">
                <a16:creationId xmlns:a16="http://schemas.microsoft.com/office/drawing/2014/main" id="{72504917-0F58-D488-C3C4-52C1BEFA8B7E}"/>
              </a:ext>
            </a:extLst>
          </p:cNvPr>
          <p:cNvSpPr/>
          <p:nvPr userDrawn="1"/>
        </p:nvSpPr>
        <p:spPr>
          <a:xfrm>
            <a:off x="1" y="754675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6" name="Rectangle 5" descr="{&quot;templafy&quot;:{&quot;id&quot;:&quot;3f2967ac-5798-4c72-b5bd-353602e77653&quot;}}">
            <a:extLst>
              <a:ext uri="{FF2B5EF4-FFF2-40B4-BE49-F238E27FC236}">
                <a16:creationId xmlns:a16="http://schemas.microsoft.com/office/drawing/2014/main" id="{46DF2CC8-8F92-02D0-C277-1219471F7DED}"/>
              </a:ext>
            </a:extLst>
          </p:cNvPr>
          <p:cNvSpPr/>
          <p:nvPr userDrawn="1"/>
        </p:nvSpPr>
        <p:spPr>
          <a:xfrm>
            <a:off x="1" y="1545350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  <p:sp>
        <p:nvSpPr>
          <p:cNvPr id="14" name="Rectangle 13" descr="{&quot;templafy&quot;:{&quot;id&quot;:&quot;5871fdfc-1616-482a-b92a-57a54a74cf93&quot;}}">
            <a:extLst>
              <a:ext uri="{FF2B5EF4-FFF2-40B4-BE49-F238E27FC236}">
                <a16:creationId xmlns:a16="http://schemas.microsoft.com/office/drawing/2014/main" id="{55166E2C-6BB2-63E0-6516-08C074E0A386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5" name="Rectangle 14" descr="{&quot;templafy&quot;:{&quot;id&quot;:&quot;9c7a5cb5-8144-4203-97c6-a0d35d233a00&quot;}}">
            <a:extLst>
              <a:ext uri="{FF2B5EF4-FFF2-40B4-BE49-F238E27FC236}">
                <a16:creationId xmlns:a16="http://schemas.microsoft.com/office/drawing/2014/main" id="{EF27D3DC-827E-B7E1-41BB-32667AD73885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tangle 15" descr="{&quot;templafy&quot;:{&quot;id&quot;:&quot;436d1937-4d56-4636-aae6-ee6b855a9e92&quot;}}">
            <a:extLst>
              <a:ext uri="{FF2B5EF4-FFF2-40B4-BE49-F238E27FC236}">
                <a16:creationId xmlns:a16="http://schemas.microsoft.com/office/drawing/2014/main" id="{622B89E9-6ADB-FD59-9BA3-5B4FA0249F84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  <p:sp>
        <p:nvSpPr>
          <p:cNvPr id="17" name="Rectangle 16" descr="{&quot;templafy&quot;:{&quot;id&quot;:&quot;9cb4fe64-f1f7-4586-bb2d-6aedacc7ca68&quot;}}">
            <a:extLst>
              <a:ext uri="{FF2B5EF4-FFF2-40B4-BE49-F238E27FC236}">
                <a16:creationId xmlns:a16="http://schemas.microsoft.com/office/drawing/2014/main" id="{A2B0419A-D8EF-AF6A-C5AA-614FA8DA7382}"/>
              </a:ext>
            </a:extLst>
          </p:cNvPr>
          <p:cNvSpPr/>
          <p:nvPr userDrawn="1"/>
        </p:nvSpPr>
        <p:spPr>
          <a:xfrm>
            <a:off x="1" y="1837724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18" name="Rectangle 17" descr="{&quot;templafy&quot;:{&quot;id&quot;:&quot;8676d802-0bb3-4be6-a485-a42ca1296321&quot;}}">
            <a:extLst>
              <a:ext uri="{FF2B5EF4-FFF2-40B4-BE49-F238E27FC236}">
                <a16:creationId xmlns:a16="http://schemas.microsoft.com/office/drawing/2014/main" id="{EDA61324-A70A-DAD9-794B-665557D014A1}"/>
              </a:ext>
            </a:extLst>
          </p:cNvPr>
          <p:cNvSpPr/>
          <p:nvPr userDrawn="1"/>
        </p:nvSpPr>
        <p:spPr>
          <a:xfrm>
            <a:off x="1" y="2628399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6" name="Rectangle 15" descr="{&quot;templafy&quot;:{&quot;id&quot;:&quot;a319365d-1bdc-4cd5-8217-d38f95588f33&quot;}}">
            <a:extLst>
              <a:ext uri="{FF2B5EF4-FFF2-40B4-BE49-F238E27FC236}">
                <a16:creationId xmlns:a16="http://schemas.microsoft.com/office/drawing/2014/main" id="{C51ED843-127C-30BA-85DB-FDA76ABBF883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Rectangle 16" descr="{&quot;templafy&quot;:{&quot;id&quot;:&quot;82753c11-9c27-4ae5-95f8-efe8694ad8e6&quot;}}">
            <a:extLst>
              <a:ext uri="{FF2B5EF4-FFF2-40B4-BE49-F238E27FC236}">
                <a16:creationId xmlns:a16="http://schemas.microsoft.com/office/drawing/2014/main" id="{203F9367-093B-506B-B9C1-31FF47E06A2A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Sadra Moosavi Lar - 2139901</a:t>
            </a:r>
          </a:p>
        </p:txBody>
      </p:sp>
      <p:sp>
        <p:nvSpPr>
          <p:cNvPr id="18" name="Rectangle 17" descr="{&quot;templafy&quot;:{&quot;id&quot;:&quot;f968fff4-206d-4ae2-bcd1-8dde7376f40f&quot;}}">
            <a:extLst>
              <a:ext uri="{FF2B5EF4-FFF2-40B4-BE49-F238E27FC236}">
                <a16:creationId xmlns:a16="http://schemas.microsoft.com/office/drawing/2014/main" id="{9D303C58-72C0-6292-B9C6-E0F1B06AD4EC}"/>
              </a:ext>
            </a:extLst>
          </p:cNvPr>
          <p:cNvSpPr/>
          <p:nvPr userDrawn="1"/>
        </p:nvSpPr>
        <p:spPr>
          <a:xfrm>
            <a:off x="6668" y="2909511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Progress Report on Thesis </a:t>
            </a:r>
          </a:p>
        </p:txBody>
      </p:sp>
      <p:sp>
        <p:nvSpPr>
          <p:cNvPr id="19" name="Rectangle 18" descr="{&quot;templafy&quot;:{&quot;id&quot;:&quot;d5e4e40c-3f52-44bb-bd94-0c2e857cdb17&quot;}}">
            <a:extLst>
              <a:ext uri="{FF2B5EF4-FFF2-40B4-BE49-F238E27FC236}">
                <a16:creationId xmlns:a16="http://schemas.microsoft.com/office/drawing/2014/main" id="{AAFBC4FF-0C69-5557-BB41-080973EEE5A3}"/>
              </a:ext>
            </a:extLst>
          </p:cNvPr>
          <p:cNvSpPr/>
          <p:nvPr userDrawn="1"/>
        </p:nvSpPr>
        <p:spPr>
          <a:xfrm>
            <a:off x="6668" y="3700186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fld id="{1A603C3A-77C1-0940-9355-EF960D2C4525}" type="datetime3">
              <a:rPr lang="en-US" sz="1000" b="1" smtClean="0">
                <a:latin typeface="+mn-lt"/>
              </a:rPr>
              <a:t>18 December 2025</a:t>
            </a:fld>
            <a:endParaRPr lang="en-US" sz="1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443" y="518711"/>
            <a:ext cx="7556500" cy="539038"/>
          </a:xfrm>
        </p:spPr>
        <p:txBody>
          <a:bodyPr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6443" y="1294737"/>
            <a:ext cx="7556501" cy="292245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212861902" name="Rectangle 20" descr="{&quot;templafy&quot;:{&quot;id&quot;:&quot;da8acce6-7b5a-4867-be02-c453b958f4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pic>
        <p:nvPicPr>
          <p:cNvPr id="918533759" name="Rectangle 7" descr="{&quot;templafy&quot;:{&quot;id&quot;:&quot;354f1681-864a-416c-8c71-142c22f890c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405019404" name="Rectangle 3" descr="{&quot;templafy&quot;:{&quot;id&quot;:&quot;f5a7761c-cf48-492a-9f48-35d6978b765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66865196" name="Rectangle 3" descr="{&quot;templafy&quot;:{&quot;id&quot;:&quot;dabe0df5-77b0-4bb4-8e04-2c5ab0300a3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</a:t>
            </a:r>
            <a:endParaRPr lang="en-US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icon to insert 16x9 image or movie</a:t>
            </a:r>
            <a:endParaRPr lang="en-US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US" dirty="0"/>
              <a:t>Click to insert Caption under image or movie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506598195" name="Rectangle 3" descr="{&quot;templafy&quot;:{&quot;id&quot;:&quot;d1b58bd7-7598-486e-9a89-256bb44d124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59053793" name="Rectangle 3" descr="{&quot;templafy&quot;:{&quot;id&quot;:&quot;87548106-368b-4e2a-8d17-87420d681e2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5C4EFD-F141-47C5-CA31-3E0B03FF70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white headline on a full screen, dark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full screen, light image</a:t>
            </a:r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AC4756-856D-316D-C785-243FF7236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white background</a:t>
            </a:r>
            <a:endParaRPr lang="en-US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382731793" name="Rectangle 6" descr="{&quot;templafy&quot;:{&quot;id&quot;:&quot;9d9cd7d2-12ec-4c65-8c77-2a3d1eabdf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table</a:t>
            </a:r>
            <a:endParaRPr lang="en-US"/>
          </a:p>
        </p:txBody>
      </p:sp>
      <p:pic>
        <p:nvPicPr>
          <p:cNvPr id="419903561" name="Rectangle 3" descr="{&quot;templafy&quot;:{&quot;id&quot;:&quot;1120b0c9-d33b-4baf-add8-56ea532d751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Example chart</a:t>
            </a:r>
            <a:endParaRPr lang="en-US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74435-4D3F-D6A8-A0BB-6B63593D62BC}"/>
              </a:ext>
            </a:extLst>
          </p:cNvPr>
          <p:cNvSpPr txBox="1"/>
          <p:nvPr userDrawn="1"/>
        </p:nvSpPr>
        <p:spPr>
          <a:xfrm>
            <a:off x="1933073" y="1602619"/>
            <a:ext cx="527785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281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modelstijlen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  <p:sp>
        <p:nvSpPr>
          <p:cNvPr id="4" name="Rectangle 3" descr="{&quot;templafy&quot;:{&quot;id&quot;:&quot;3093273a-680f-4802-91c8-5822ae71304c&quot;}}">
            <a:extLst>
              <a:ext uri="{FF2B5EF4-FFF2-40B4-BE49-F238E27FC236}">
                <a16:creationId xmlns:a16="http://schemas.microsoft.com/office/drawing/2014/main" id="{CAB1518B-D283-A4E3-DB27-70B344BB7683}"/>
              </a:ext>
            </a:extLst>
          </p:cNvPr>
          <p:cNvSpPr/>
          <p:nvPr userDrawn="1"/>
        </p:nvSpPr>
        <p:spPr>
          <a:xfrm>
            <a:off x="1114425" y="4568400"/>
            <a:ext cx="7042149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Progress Report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27E33-D15C-F68D-AC24-C5E575E9DE15}"/>
              </a:ext>
            </a:extLst>
          </p:cNvPr>
          <p:cNvSpPr/>
          <p:nvPr userDrawn="1"/>
        </p:nvSpPr>
        <p:spPr>
          <a:xfrm>
            <a:off x="0" y="4568399"/>
            <a:ext cx="1114424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CDE33B9-1F9E-4BC2-BE93-A4176EB52515}" type="slidenum">
              <a:rPr lang="en-US" smtClean="0">
                <a:solidFill>
                  <a:schemeClr val="tx1"/>
                </a:solidFill>
              </a:rPr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6.xml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31B5A-7B77-F975-378F-EC474FA40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C9AE-EC41-15EC-6A7A-E05165E5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of the problem </a:t>
            </a:r>
            <a:r>
              <a:rPr lang="en-US" sz="1800" dirty="0"/>
              <a:t>(in my view)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30913-792D-4C98-345A-27D1B369367C}"/>
              </a:ext>
            </a:extLst>
          </p:cNvPr>
          <p:cNvSpPr/>
          <p:nvPr/>
        </p:nvSpPr>
        <p:spPr>
          <a:xfrm>
            <a:off x="454690" y="1143000"/>
            <a:ext cx="2800573" cy="32644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</a:rPr>
              <a:t>World X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Managers, CEOs, …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+50 years old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Slow to decide, High Impact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Experienced, outdated knowledge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Losing the ability to learn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Governments, Large corporations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Resistant to adopt new tech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2E3338-59D5-22FB-4560-3C5614B3069A}"/>
              </a:ext>
            </a:extLst>
          </p:cNvPr>
          <p:cNvSpPr/>
          <p:nvPr/>
        </p:nvSpPr>
        <p:spPr>
          <a:xfrm>
            <a:off x="5700299" y="1143000"/>
            <a:ext cx="2946878" cy="32644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</a:rPr>
              <a:t>World Y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System developers, engineers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18 to 35 years old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Fast to act, Low Impact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Updated Knowledge, no experience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Passionate to learn and grow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new companies, startups 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keen on adopting new tech</a:t>
            </a:r>
          </a:p>
        </p:txBody>
      </p:sp>
    </p:spTree>
    <p:extLst>
      <p:ext uri="{BB962C8B-B14F-4D97-AF65-F5344CB8AC3E}">
        <p14:creationId xmlns:p14="http://schemas.microsoft.com/office/powerpoint/2010/main" val="264707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8CFE-8DC2-B602-DE6F-1156EBDE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2788-06C9-7580-03DF-B9546322B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of the problem </a:t>
            </a:r>
            <a:r>
              <a:rPr lang="en-US" sz="1800" dirty="0"/>
              <a:t>(in my view)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D3902F-C549-04F5-A6A2-92616BC8182F}"/>
              </a:ext>
            </a:extLst>
          </p:cNvPr>
          <p:cNvSpPr/>
          <p:nvPr/>
        </p:nvSpPr>
        <p:spPr>
          <a:xfrm>
            <a:off x="454690" y="1143000"/>
            <a:ext cx="2800573" cy="32644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</a:rPr>
              <a:t>World X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Managers, CEOs, …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+50 years old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Slow to decide, High Impact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Experienced, outdated knowledge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Losing the ability to learn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Governments, Large corporations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Resistant to adopt new tech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444713-8E4A-A212-CAF9-B27A547CEB72}"/>
              </a:ext>
            </a:extLst>
          </p:cNvPr>
          <p:cNvSpPr/>
          <p:nvPr/>
        </p:nvSpPr>
        <p:spPr>
          <a:xfrm>
            <a:off x="5700299" y="1143000"/>
            <a:ext cx="2946878" cy="32644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</a:rPr>
              <a:t>World Y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System developers, engineers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18 to 35 years old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Fast to act, Low Impact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Updated Knowledge, no experience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Passionate to learn and grow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new companies, startups 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keen on adopting new tech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FF7D43-D174-8797-4E33-5F75D695BD1A}"/>
              </a:ext>
            </a:extLst>
          </p:cNvPr>
          <p:cNvSpPr/>
          <p:nvPr/>
        </p:nvSpPr>
        <p:spPr>
          <a:xfrm>
            <a:off x="3104927" y="1993392"/>
            <a:ext cx="2800573" cy="1591056"/>
          </a:xfrm>
          <a:prstGeom prst="rect">
            <a:avLst/>
          </a:prstGeom>
          <a:solidFill>
            <a:srgbClr val="EEE8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</a:rPr>
              <a:t>Systems Engineers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Connecting the two worlds 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(speed matching the two gears)</a:t>
            </a:r>
          </a:p>
        </p:txBody>
      </p:sp>
    </p:spTree>
    <p:extLst>
      <p:ext uri="{BB962C8B-B14F-4D97-AF65-F5344CB8AC3E}">
        <p14:creationId xmlns:p14="http://schemas.microsoft.com/office/powerpoint/2010/main" val="3042963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42DCF3-1D7B-4AC1-03CF-7FF7BA1E5C46}"/>
              </a:ext>
            </a:extLst>
          </p:cNvPr>
          <p:cNvSpPr txBox="1">
            <a:spLocks/>
          </p:cNvSpPr>
          <p:nvPr/>
        </p:nvSpPr>
        <p:spPr>
          <a:xfrm>
            <a:off x="756443" y="543095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sz="27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Context of the problem </a:t>
            </a:r>
            <a:r>
              <a:rPr lang="en-US" sz="1800" dirty="0"/>
              <a:t>(in my view)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DEFA0B-6ADD-1BA1-E42B-3E5D297DD2A4}"/>
              </a:ext>
            </a:extLst>
          </p:cNvPr>
          <p:cNvSpPr/>
          <p:nvPr/>
        </p:nvSpPr>
        <p:spPr>
          <a:xfrm>
            <a:off x="454690" y="1143000"/>
            <a:ext cx="2800573" cy="32644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</a:rPr>
              <a:t>World X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Managers, CEOs, …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+50 years old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Slow to decide, High Impact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Experienced, outdated knowledge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Losing the ability to learn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Governments, Large corporations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Resistant to adopt new tech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85C57-5940-4E5B-67C5-9A86FA7F7BC9}"/>
              </a:ext>
            </a:extLst>
          </p:cNvPr>
          <p:cNvSpPr/>
          <p:nvPr/>
        </p:nvSpPr>
        <p:spPr>
          <a:xfrm>
            <a:off x="5700299" y="1143000"/>
            <a:ext cx="2946878" cy="32644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</a:rPr>
              <a:t>World Y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System developers, engineers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18 to 35 years old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Fast to act, Low Impact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Updated Knowledge, no experience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Passionate to learn and grow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new companies, startups 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keen on adopting new tech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E5E07E-75EC-1A93-BEEB-D0C1C246FCE8}"/>
              </a:ext>
            </a:extLst>
          </p:cNvPr>
          <p:cNvSpPr/>
          <p:nvPr/>
        </p:nvSpPr>
        <p:spPr>
          <a:xfrm>
            <a:off x="1677208" y="2018538"/>
            <a:ext cx="2800573" cy="1591056"/>
          </a:xfrm>
          <a:prstGeom prst="rect">
            <a:avLst/>
          </a:prstGeom>
          <a:solidFill>
            <a:srgbClr val="EEE8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</a:rPr>
              <a:t>Systems Engineers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Connecting the two worlds 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(speed matching the two gears)</a:t>
            </a:r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B30D0829-0746-DE12-719C-CE6112B41A8D}"/>
              </a:ext>
            </a:extLst>
          </p:cNvPr>
          <p:cNvSpPr/>
          <p:nvPr/>
        </p:nvSpPr>
        <p:spPr>
          <a:xfrm>
            <a:off x="4477781" y="2571750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13553-0D82-BA88-3FE5-E642C96E68AD}"/>
              </a:ext>
            </a:extLst>
          </p:cNvPr>
          <p:cNvSpPr txBox="1"/>
          <p:nvPr/>
        </p:nvSpPr>
        <p:spPr>
          <a:xfrm>
            <a:off x="4391998" y="1981154"/>
            <a:ext cx="13877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The Gap is getting larger!</a:t>
            </a:r>
          </a:p>
        </p:txBody>
      </p:sp>
    </p:spTree>
    <p:extLst>
      <p:ext uri="{BB962C8B-B14F-4D97-AF65-F5344CB8AC3E}">
        <p14:creationId xmlns:p14="http://schemas.microsoft.com/office/powerpoint/2010/main" val="340925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0FED-BC10-342E-51ED-F031C6ADB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Systems Engineers are getting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Older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Slower to learn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Slower to decide but higher influence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Less updated on new technology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More involved in regulatory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Less able to learn new concepts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9D8B9E-A33A-DCB2-8B86-4181BD2DFDD2}"/>
              </a:ext>
            </a:extLst>
          </p:cNvPr>
          <p:cNvSpPr txBox="1">
            <a:spLocks/>
          </p:cNvSpPr>
          <p:nvPr/>
        </p:nvSpPr>
        <p:spPr>
          <a:xfrm>
            <a:off x="756443" y="543095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sz="27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Context of the problem </a:t>
            </a:r>
            <a:r>
              <a:rPr lang="en-US" sz="1800" dirty="0"/>
              <a:t>(in my view)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98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3D1B3-F080-8607-7882-C1FE740DA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CCE3E-3FE1-A13B-E59D-01BFE47E7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98" y="1294737"/>
            <a:ext cx="8268804" cy="2922458"/>
          </a:xfrm>
        </p:spPr>
        <p:txBody>
          <a:bodyPr/>
          <a:lstStyle/>
          <a:p>
            <a:r>
              <a:rPr lang="en-US" sz="2000" b="1" dirty="0">
                <a:solidFill>
                  <a:srgbClr val="C00000"/>
                </a:solidFill>
              </a:rPr>
              <a:t>Why</a:t>
            </a:r>
            <a:r>
              <a:rPr lang="en-US" dirty="0"/>
              <a:t> Systems Engineers are getting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Older : </a:t>
            </a:r>
            <a:r>
              <a:rPr lang="en-US" sz="2000" b="1" dirty="0">
                <a:solidFill>
                  <a:srgbClr val="C00000"/>
                </a:solidFill>
              </a:rPr>
              <a:t>Because SE jobs are not being opened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Slower to learn : </a:t>
            </a:r>
            <a:r>
              <a:rPr lang="en-US" sz="2000" b="1" dirty="0">
                <a:solidFill>
                  <a:srgbClr val="C00000"/>
                </a:solidFill>
              </a:rPr>
              <a:t>Because systems are getting more and more complex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Slower to decide but higher influence : </a:t>
            </a:r>
            <a:r>
              <a:rPr lang="en-US" sz="2000" b="1" dirty="0">
                <a:solidFill>
                  <a:srgbClr val="C00000"/>
                </a:solidFill>
              </a:rPr>
              <a:t>Because they don’t want to take risks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Less updated on new technology : </a:t>
            </a:r>
            <a:r>
              <a:rPr lang="en-US" sz="2000" b="1" dirty="0">
                <a:solidFill>
                  <a:srgbClr val="C00000"/>
                </a:solidFill>
              </a:rPr>
              <a:t>Because Technology is quickly growing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More involved in regulatory : </a:t>
            </a:r>
            <a:r>
              <a:rPr lang="en-US" sz="2000" b="1" dirty="0">
                <a:solidFill>
                  <a:srgbClr val="C00000"/>
                </a:solidFill>
              </a:rPr>
              <a:t>Because less risks means more compliance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Less able to learn new concepts : </a:t>
            </a:r>
            <a:r>
              <a:rPr lang="en-US" sz="2000" b="1" dirty="0">
                <a:solidFill>
                  <a:srgbClr val="C00000"/>
                </a:solidFill>
              </a:rPr>
              <a:t>Because they’re getting 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C73FEF-C0EA-5570-7A4C-13A546599989}"/>
              </a:ext>
            </a:extLst>
          </p:cNvPr>
          <p:cNvSpPr txBox="1">
            <a:spLocks/>
          </p:cNvSpPr>
          <p:nvPr/>
        </p:nvSpPr>
        <p:spPr>
          <a:xfrm>
            <a:off x="756443" y="543095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sz="27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Context of the problem </a:t>
            </a:r>
            <a:r>
              <a:rPr lang="en-US" sz="1800" dirty="0"/>
              <a:t>(in my view)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76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DE993-E039-4A34-6052-A5E312F4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7680D07-B1F0-7131-F173-032AE2DF567C}"/>
              </a:ext>
            </a:extLst>
          </p:cNvPr>
          <p:cNvSpPr txBox="1">
            <a:spLocks/>
          </p:cNvSpPr>
          <p:nvPr/>
        </p:nvSpPr>
        <p:spPr>
          <a:xfrm>
            <a:off x="756443" y="543095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ts val="2700"/>
              </a:lnSpc>
              <a:spcBef>
                <a:spcPct val="0"/>
              </a:spcBef>
              <a:buNone/>
              <a:defRPr sz="27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Context of the problem </a:t>
            </a:r>
            <a:r>
              <a:rPr lang="en-US" sz="1800" dirty="0"/>
              <a:t>(in my view)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CC364E-A3B1-9B07-71CC-89A3BD288B24}"/>
              </a:ext>
            </a:extLst>
          </p:cNvPr>
          <p:cNvSpPr/>
          <p:nvPr/>
        </p:nvSpPr>
        <p:spPr>
          <a:xfrm>
            <a:off x="454690" y="1143000"/>
            <a:ext cx="2800573" cy="32644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</a:rPr>
              <a:t>World X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Managers, CEOs, …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+50 years old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Slow to decide, High Impact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Experienced, outdated knowledge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Losing the ability to learn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Governments, Large corporations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Resistant to adopt new tech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17513-6DD2-DC3B-75C3-A588D6954E04}"/>
              </a:ext>
            </a:extLst>
          </p:cNvPr>
          <p:cNvSpPr/>
          <p:nvPr/>
        </p:nvSpPr>
        <p:spPr>
          <a:xfrm>
            <a:off x="5700299" y="1143000"/>
            <a:ext cx="2946878" cy="32644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</a:rPr>
              <a:t>World Y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System developers, engineers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18 to 35 years old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Fast to act, Low Impact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Updated Knowledge, no experience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Passionate to learn and grow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new companies, startups 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Too keen on adopting new tech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125337-E718-70AF-18EB-E50837374B6F}"/>
              </a:ext>
            </a:extLst>
          </p:cNvPr>
          <p:cNvSpPr/>
          <p:nvPr/>
        </p:nvSpPr>
        <p:spPr>
          <a:xfrm>
            <a:off x="1677208" y="2018538"/>
            <a:ext cx="2800573" cy="1591056"/>
          </a:xfrm>
          <a:prstGeom prst="rect">
            <a:avLst/>
          </a:prstGeom>
          <a:solidFill>
            <a:srgbClr val="EEE8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</a:rPr>
              <a:t>Systems Engineers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Connecting the two worlds 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(speed matching the two gears)</a:t>
            </a:r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2AC6BB45-BB3E-1F74-994A-233D79462B46}"/>
              </a:ext>
            </a:extLst>
          </p:cNvPr>
          <p:cNvSpPr/>
          <p:nvPr/>
        </p:nvSpPr>
        <p:spPr>
          <a:xfrm>
            <a:off x="4477781" y="2571750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109437-2636-1423-69C6-D91E10AC90CB}"/>
              </a:ext>
            </a:extLst>
          </p:cNvPr>
          <p:cNvSpPr txBox="1"/>
          <p:nvPr/>
        </p:nvSpPr>
        <p:spPr>
          <a:xfrm>
            <a:off x="4391998" y="1981154"/>
            <a:ext cx="13877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The Gap is getting larger!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5FBC36-DECC-FF8E-46BC-4145C3F46184}"/>
              </a:ext>
            </a:extLst>
          </p:cNvPr>
          <p:cNvSpPr txBox="1"/>
          <p:nvPr/>
        </p:nvSpPr>
        <p:spPr>
          <a:xfrm>
            <a:off x="1952730" y="2085028"/>
            <a:ext cx="2249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Descriptive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499E1-D7AE-DCB2-F11A-601DCF8B439B}"/>
              </a:ext>
            </a:extLst>
          </p:cNvPr>
          <p:cNvSpPr txBox="1"/>
          <p:nvPr/>
        </p:nvSpPr>
        <p:spPr>
          <a:xfrm>
            <a:off x="6048974" y="1193089"/>
            <a:ext cx="22639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Analytical Models</a:t>
            </a:r>
          </a:p>
        </p:txBody>
      </p:sp>
    </p:spTree>
    <p:extLst>
      <p:ext uri="{BB962C8B-B14F-4D97-AF65-F5344CB8AC3E}">
        <p14:creationId xmlns:p14="http://schemas.microsoft.com/office/powerpoint/2010/main" val="26374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8AFF-4242-E884-D86F-8D51E372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 chose this approach?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01DA7-5443-018F-2891-5D7FA7387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a high-level overview, I can explore parallel research questions (topics) and ultimately design a better solution space: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Mapping data to models (e.g. current SERC’s MISD) &gt; more diagrams!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AI (e.g. </a:t>
            </a:r>
            <a:r>
              <a:rPr lang="en-US" dirty="0" err="1"/>
              <a:t>Anthropic’s</a:t>
            </a:r>
            <a:r>
              <a:rPr lang="en-US" dirty="0"/>
              <a:t> MCP) &gt; more data!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Address the SE and SWE gap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 Education (for Young 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Human Aspects (Forgetting the KISS)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 maybe other research questions?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Wingdings" pitchFamily="2" charset="2"/>
              <a:buChar char="Ø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49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F512-C690-FE81-2FE5-7CAABB820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9B468-650B-C3E7-923C-9515DF06B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294737"/>
            <a:ext cx="7556501" cy="396903"/>
          </a:xfrm>
        </p:spPr>
        <p:txBody>
          <a:bodyPr/>
          <a:lstStyle/>
          <a:p>
            <a:r>
              <a:rPr lang="en-US" dirty="0"/>
              <a:t>Search Path: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824B29-E411-7479-4D55-1B399DFFB85B}"/>
              </a:ext>
            </a:extLst>
          </p:cNvPr>
          <p:cNvSpPr/>
          <p:nvPr/>
        </p:nvSpPr>
        <p:spPr>
          <a:xfrm>
            <a:off x="2283490" y="1152602"/>
            <a:ext cx="1236949" cy="539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IEEE Systems Council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40E094-35DA-846B-27FB-3485807360F5}"/>
              </a:ext>
            </a:extLst>
          </p:cNvPr>
          <p:cNvSpPr/>
          <p:nvPr/>
        </p:nvSpPr>
        <p:spPr>
          <a:xfrm>
            <a:off x="4152708" y="1152602"/>
            <a:ext cx="1361124" cy="5390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Tom McDermott (SERC)</a:t>
            </a:r>
          </a:p>
        </p:txBody>
      </p:sp>
      <p:pic>
        <p:nvPicPr>
          <p:cNvPr id="10" name="Picture 9" descr="A diagram of data analysis&#10;&#10;AI-generated content may be incorrect.">
            <a:extLst>
              <a:ext uri="{FF2B5EF4-FFF2-40B4-BE49-F238E27FC236}">
                <a16:creationId xmlns:a16="http://schemas.microsoft.com/office/drawing/2014/main" id="{17D25F0E-23BD-890B-F7A1-2BF7F1D863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708" y="1866906"/>
            <a:ext cx="4342638" cy="2349012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9575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718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 16x9 EN" id="{97F7A710-2E0D-45AA-B405-AD861E979FF9}" vid="{7E68701C-E484-4FA9-9B1A-14938FE6508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TemplafySlideTemplateConfiguration><![CDATA[{"slideVersion":1,"isValidatorEnabled":false,"isLocked":false,"elementsMetadata":[],"slideId":"638351419723556149","enableDocumentContentUpdater":false,"version":"2.0"}]]></TemplafySlideTemplate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c81a03-33f5-430d-a427-dfbddb1fb524">
      <Terms xmlns="http://schemas.microsoft.com/office/infopath/2007/PartnerControls"/>
    </lcf76f155ced4ddcb4097134ff3c332f>
    <TaxCatchAll xmlns="89addd5d-1b61-4a22-b114-f0fd8c2dcf23" xsi:nil="true"/>
  </documentManagement>
</p:properties>
</file>

<file path=customXml/item3.xml><?xml version="1.0" encoding="utf-8"?>
<TemplafySlideTemplateConfiguration><![CDATA[{"slideVersion":1,"isValidatorEnabled":false,"isLocked":false,"elementsMetadata":[{"type":"shape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],"slideId":"638351419723532317","enableDocumentContentUpdater":false,"version":"2.0"}]]></TemplafySlideTemplateConfiguration>
</file>

<file path=customXml/item4.xml><?xml version="1.0" encoding="utf-8"?>
<TemplafyTemplateConfiguration><![CDATA[{"elementsMetadata":[{"type":"shape","id":"3093273a-680f-4802-91c8-5822ae71304c","elementConfiguration":{"binding":"{{Form.Title}}","visibility":"","type":"text","disableUpdates":false}},{"type":"shape","id":"a319365d-1bdc-4cd5-8217-d38f95588f33","elementConfiguration":{"binding":"{{UserProfile.Department}}","visibility":"","type":"text","disableUpdates":false}},{"type":"shape","id":"82753c11-9c27-4ae5-95f8-efe8694ad8e6","elementConfiguration":{"binding":"{{UserProfile.DisplayName}}, {{UserProfile.JobTitle}}","visibility":"","type":"text","disableUpdates":false}},{"type":"shape","id":"f968fff4-206d-4ae2-bcd1-8dde7376f40f","elementConfiguration":{"binding":"{{Form.Title}}","visibility":"","type":"text","disableUpdates":false}},{"type":"shape","id":"d5e4e40c-3f52-44bb-bd94-0c2e857cdb17","elementConfiguration":{"binding":"{{Form.Subtitle}}","visibility":"","type":"text","disableUpdates":false}},{"type":"shape","id":"dabe0df5-77b0-4bb4-8e04-2c5ab0300a3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c7a5cb5-8144-4203-97c6-a0d35d233a00","elementConfiguration":{"binding":"{{UserProfile.Department}}","visibility":"","type":"text","disableUpdates":false}},{"type":"shape","id":"436d1937-4d56-4636-aae6-ee6b855a9e92","elementConfiguration":{"binding":"{{UserProfile.DisplayName}}, {{UserProfile.JobTitle}}","visibility":"","type":"text","disableUpdates":false}},{"type":"shape","id":"9cb4fe64-f1f7-4586-bb2d-6aedacc7ca68","elementConfiguration":{"binding":"{{Form.Title}}","visibility":"","type":"text","disableUpdates":false}},{"type":"shape","id":"8676d802-0bb3-4be6-a485-a42ca1296321","elementConfiguration":{"binding":"{{Form.Subtitle}}","visibility":"","type":"text","disableUpdates":false}},{"type":"shape","id":"1120b0c9-d33b-4baf-add8-56ea532d7515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0e5b527a-3d90-4e88-a06e-e938b7f1c9b6","elementConfiguration":{"binding":"{{UserProfile.Department}}","visibility":"","type":"text","disableUpdates":false}},{"type":"shape","id":"50bcac18-bc09-4bfd-a03e-a918438f2568","elementConfiguration":{"binding":"{{Form.Title}}","visibility":"","type":"text","disableUpdates":false}},{"type":"shape","id":"3f2967ac-5798-4c72-b5bd-353602e77653","elementConfiguration":{"binding":"{{Form.Subtitle}}","visibility":"","type":"text","disableUpdates":false}},{"type":"shape","id":"5871fdfc-1616-482a-b92a-57a54a74cf93","elementConfiguration":{"binding":"{{UserProfile.DisplayName}}, {{UserProfile.JobTitle}}","visibility":"","type":"text","disableUpdates":false}},{"type":"shape","id":"f5a7761c-cf48-492a-9f48-35d6978b765b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87548106-368b-4e2a-8d17-87420d681e29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354f1681-864a-416c-8c71-142c22f890c7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d9cd7d2-12ec-4c65-8c77-2a3d1eabdf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1b58bd7-7598-486e-9a89-256bb44d124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a8acce6-7b5a-4867-be02-c453b958f4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],"transformationConfigurations":[{"documentName":"TUe presentation {{StringJoin(\" \", Form.Title, Form.Subtitle)}}","type":"documentName"},{"language":"{{Form.Language.Language}}","disableUpdates":false,"type":"proofingLanguage"}],"templateName":"TUe 16x9 Dynamic","templateDescription":"","enableDocumentContentUpdater":true,"version":"2.0"}]]></TemplafyTemplateConfiguration>
</file>

<file path=customXml/item5.xml><?xml version="1.0" encoding="utf-8"?>
<Templafy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,{"distinct":false,"hideIfNoUserInteractionRequired":false,"required":false,"defaultValue":"English (United States) (en-US)","autoSelectFirstOption":false,"helpTexts":{},"spacing":{},"shareValue":false,"type":"dropDown","dataSourceName":"Languages","dataSourceFieldName":"Name","name":"Language","label":"Language"},{"helpTexts":{},"spacing":{},"shareValue":false,"type":"checkBox","name":"ShowPowerPointInstructions","label":"Show PowerPoint instructions"}],"formDataEntries":[{"name":"Title","value":"eu4Owlo/FPCohSwkIJyx1Q=="},{"name":"Subtitle","value":"19hkcit5tGnwft36tb/4OI2IQOzf5pENHJcQTMzNQL4="},{"name":"Language","value":"abeq91JDhYTls/ygBdNhWNG4z6ah1Z8NlH8bM4Qtj1w="},{"name":"ShowPowerPointInstructions","value":"g7RW92AybdteY/S0zarayw=="}]}]]></TemplafyFormConfiguration>
</file>

<file path=customXml/item6.xml><?xml version="1.0" encoding="utf-8"?>
<TemplafySlide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],"formDataEntries":[]}]]></TemplafySlideFormConfiguration>
</file>

<file path=customXml/item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{"type":"shape","elementConfiguration":{"binding":"{{UserProfile.Department}}","visibility":"","type":"text","disableUpdates":false}},{"type":"shape","elementConfiguration":{"binding":"{{UserProfile.DisplayName}}, {{UserProfile.JobTitle}}","visibility":"","type":"text","disableUpdates":false}},{"type":"shape","elementConfiguration":{"binding":"{{Form.Title}}","visibility":"","type":"text","disableUpdates":false}},{"type":"shape","elementConfiguration":{"binding":"{{Form.Subtitle}}","visibility":"","type":"text","disableUpdates":false}}],"slideId":"638351419723211212","enableDocumentContentUpdater":false,"version":"2.0"}]]></TemplafySlideTemplateConfiguration>
</file>

<file path=customXml/item10.xml><?xml version="1.0" encoding="utf-8"?>
<TemplafySlideFormConfiguration><![CDATA[{"formFields":[{"helpTexts":{},"spacing":{},"shareValue":false,"type":"checkBox","name":"ShowPowerPointInstructions","label":"Show PowerPoint instructions"}],"formDataEntries":[]}]]></TemplafySlideFormConfiguration>
</file>

<file path=customXml/item1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F465149FB9C5448C8CF5199B7F8DE2" ma:contentTypeVersion="10" ma:contentTypeDescription="Create a new document." ma:contentTypeScope="" ma:versionID="8cd7095fbec53cd6e9b4b528d8a754c1">
  <xsd:schema xmlns:xsd="http://www.w3.org/2001/XMLSchema" xmlns:xs="http://www.w3.org/2001/XMLSchema" xmlns:p="http://schemas.microsoft.com/office/2006/metadata/properties" xmlns:ns2="adc81a03-33f5-430d-a427-dfbddb1fb524" xmlns:ns3="89addd5d-1b61-4a22-b114-f0fd8c2dcf23" targetNamespace="http://schemas.microsoft.com/office/2006/metadata/properties" ma:root="true" ma:fieldsID="6f9faedb4f7c4312b114ec66ff6b5f83" ns2:_="" ns3:_="">
    <xsd:import namespace="adc81a03-33f5-430d-a427-dfbddb1fb524"/>
    <xsd:import namespace="89addd5d-1b61-4a22-b114-f0fd8c2dcf2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81a03-33f5-430d-a427-dfbddb1fb52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f80264a-99e7-47cd-820c-3e92ce78c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addd5d-1b61-4a22-b114-f0fd8c2dcf2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7b29c17-ece9-467f-b874-d1c31772652f}" ma:internalName="TaxCatchAll" ma:showField="CatchAllData" ma:web="89addd5d-1b61-4a22-b114-f0fd8c2dcf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63B716-1B3F-4EF4-A645-2849D6A2A1C7}">
  <ds:schemaRefs/>
</ds:datastoreItem>
</file>

<file path=customXml/itemProps2.xml><?xml version="1.0" encoding="utf-8"?>
<ds:datastoreItem xmlns:ds="http://schemas.openxmlformats.org/officeDocument/2006/customXml" ds:itemID="{798BD6EC-9107-4563-AC4A-8434E9808CDB}">
  <ds:schemaRefs>
    <ds:schemaRef ds:uri="http://schemas.microsoft.com/office/2006/metadata/properties"/>
    <ds:schemaRef ds:uri="http://schemas.microsoft.com/office/infopath/2007/PartnerControls"/>
    <ds:schemaRef ds:uri="2f7262f3-19e3-4c38-834c-996e2cec5b6c"/>
    <ds:schemaRef ds:uri="6b2685c3-cb74-402e-89a3-cd359bd59e48"/>
    <ds:schemaRef ds:uri="adc81a03-33f5-430d-a427-dfbddb1fb524"/>
    <ds:schemaRef ds:uri="89addd5d-1b61-4a22-b114-f0fd8c2dcf23"/>
  </ds:schemaRefs>
</ds:datastoreItem>
</file>

<file path=customXml/itemProps3.xml><?xml version="1.0" encoding="utf-8"?>
<ds:datastoreItem xmlns:ds="http://schemas.openxmlformats.org/officeDocument/2006/customXml" ds:itemID="{9D8D8A15-3F3B-4DED-ADCB-B39E9CEFEB42}">
  <ds:schemaRefs/>
</ds:datastoreItem>
</file>

<file path=customXml/itemProps4.xml><?xml version="1.0" encoding="utf-8"?>
<ds:datastoreItem xmlns:ds="http://schemas.openxmlformats.org/officeDocument/2006/customXml" ds:itemID="{9095741A-CCDF-4B58-ADBB-E7CDCD30ED42}">
  <ds:schemaRefs/>
</ds:datastoreItem>
</file>

<file path=customXml/itemProps5.xml><?xml version="1.0" encoding="utf-8"?>
<ds:datastoreItem xmlns:ds="http://schemas.openxmlformats.org/officeDocument/2006/customXml" ds:itemID="{FB08C246-4216-47B9-B943-2D4F1A392C3F}">
  <ds:schemaRefs/>
</ds:datastoreItem>
</file>

<file path=customXml/itemProps6.xml><?xml version="1.0" encoding="utf-8"?>
<ds:datastoreItem xmlns:ds="http://schemas.openxmlformats.org/officeDocument/2006/customXml" ds:itemID="{400AE978-C982-4764-8B5A-A9725C7AA005}">
  <ds:schemaRefs/>
</ds:datastoreItem>
</file>

<file path=customXml/itemProps7.xml><?xml version="1.0" encoding="utf-8"?>
<ds:datastoreItem xmlns:ds="http://schemas.openxmlformats.org/officeDocument/2006/customXml" ds:itemID="{30B7C04D-9D5F-4F98-B86E-9544BFD1410A}">
  <ds:schemaRefs>
    <ds:schemaRef ds:uri="http://schemas.microsoft.com/sharepoint/v3/contenttype/forms"/>
  </ds:schemaRefs>
</ds:datastoreItem>
</file>

<file path=customXml/itemProps8.xml><?xml version="1.0" encoding="utf-8"?>
<ds:datastoreItem xmlns:ds="http://schemas.openxmlformats.org/officeDocument/2006/customXml" ds:itemID="{3CEDE958-A289-4F43-AB16-8D80F6812CD1}">
  <ds:schemaRefs/>
</ds:datastoreItem>
</file>

<file path=customXml/itemProps9.xml><?xml version="1.0" encoding="utf-8"?>
<ds:datastoreItem xmlns:ds="http://schemas.openxmlformats.org/officeDocument/2006/customXml" ds:itemID="{1E4E5DBF-1B01-4344-9330-851E2AF998FF}">
  <ds:schemaRefs/>
</ds:datastoreItem>
</file>

<file path=customXml/itemProps10.xml><?xml version="1.0" encoding="utf-8"?>
<ds:datastoreItem xmlns:ds="http://schemas.openxmlformats.org/officeDocument/2006/customXml" ds:itemID="{5997B3AC-2567-42FC-9E34-598D615F679E}">
  <ds:schemaRefs/>
</ds:datastoreItem>
</file>

<file path=customXml/itemProps11.xml><?xml version="1.0" encoding="utf-8"?>
<ds:datastoreItem xmlns:ds="http://schemas.openxmlformats.org/officeDocument/2006/customXml" ds:itemID="{944185D8-EC9F-4A5A-93F0-FC5FEC52BA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81a03-33f5-430d-a427-dfbddb1fb524"/>
    <ds:schemaRef ds:uri="89addd5d-1b61-4a22-b114-f0fd8c2dcf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1049</TotalTime>
  <Words>611</Words>
  <Application>Microsoft Macintosh PowerPoint</Application>
  <PresentationFormat>On-screen Show (16:9)</PresentationFormat>
  <Paragraphs>123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Kantoorthema</vt:lpstr>
      <vt:lpstr>PowerPoint Presentation</vt:lpstr>
      <vt:lpstr>Context of the problem (in my view)</vt:lpstr>
      <vt:lpstr>Context of the problem (in my view)</vt:lpstr>
      <vt:lpstr>PowerPoint Presentation</vt:lpstr>
      <vt:lpstr>PowerPoint Presentation</vt:lpstr>
      <vt:lpstr>PowerPoint Presentation</vt:lpstr>
      <vt:lpstr>PowerPoint Presentation</vt:lpstr>
      <vt:lpstr>Why I chose this approach?</vt:lpstr>
      <vt:lpstr>Literature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Moosavi Lar, Sadra</dc:creator>
  <cp:lastModifiedBy>Moosavi Lar, Sadra</cp:lastModifiedBy>
  <cp:revision>2</cp:revision>
  <dcterms:created xsi:type="dcterms:W3CDTF">2025-12-18T10:00:57Z</dcterms:created>
  <dcterms:modified xsi:type="dcterms:W3CDTF">2025-12-19T03:30:16Z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0x01010033F465149FB9C5448C8CF5199B7F8DE2</vt:lpwstr>
  </property>
  <property fmtid="{D5CDD505-2E9C-101B-9397-08002B2CF9AE}" pid="3" name="MediaServiceImageTags">
    <vt:lpwstr/>
  </property>
  <property fmtid="{D5CDD505-2E9C-101B-9397-08002B2CF9AE}" pid="4" name="TemplafyTimeStamp">
    <vt:lpwstr>2023-11-09T15:52:52</vt:lpwstr>
  </property>
  <property fmtid="{D5CDD505-2E9C-101B-9397-08002B2CF9AE}" pid="5" name="TemplafyTenantId">
    <vt:lpwstr>tue</vt:lpwstr>
  </property>
  <property fmtid="{D5CDD505-2E9C-101B-9397-08002B2CF9AE}" pid="6" name="TemplafyTemplateId">
    <vt:lpwstr>773602689983971800</vt:lpwstr>
  </property>
  <property fmtid="{D5CDD505-2E9C-101B-9397-08002B2CF9AE}" pid="7" name="TemplafyUserProfileId">
    <vt:lpwstr>997763534791376972</vt:lpwstr>
  </property>
  <property fmtid="{D5CDD505-2E9C-101B-9397-08002B2CF9AE}" pid="8" name="TemplafyLanguageCode">
    <vt:lpwstr>nl-NL</vt:lpwstr>
  </property>
  <property fmtid="{D5CDD505-2E9C-101B-9397-08002B2CF9AE}" pid="9" name="TemplafyFromBlank">
    <vt:bool>false</vt:bool>
  </property>
</Properties>
</file>