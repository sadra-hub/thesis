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0"/>
  </p:sldMasterIdLst>
  <p:notesMasterIdLst>
    <p:notesMasterId r:id="rId21"/>
  </p:notesMasterIdLst>
  <p:sldIdLst>
    <p:sldId id="268" r:id="rId11"/>
    <p:sldId id="284" r:id="rId12"/>
    <p:sldId id="285" r:id="rId13"/>
    <p:sldId id="286" r:id="rId14"/>
    <p:sldId id="287" r:id="rId15"/>
    <p:sldId id="288" r:id="rId16"/>
    <p:sldId id="289" r:id="rId17"/>
    <p:sldId id="291" r:id="rId18"/>
    <p:sldId id="290" r:id="rId19"/>
    <p:sldId id="270" r:id="rId20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EE8E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549" autoAdjust="0"/>
    <p:restoredTop sz="96433" autoAdjust="0"/>
  </p:normalViewPr>
  <p:slideViewPr>
    <p:cSldViewPr snapToGrid="0" showGuides="1">
      <p:cViewPr varScale="1">
        <p:scale>
          <a:sx n="133" d="100"/>
          <a:sy n="133" d="100"/>
        </p:scale>
        <p:origin x="216" y="240"/>
      </p:cViewPr>
      <p:guideLst/>
    </p:cSldViewPr>
  </p:slideViewPr>
  <p:outlineViewPr>
    <p:cViewPr>
      <p:scale>
        <a:sx n="33" d="100"/>
        <a:sy n="33" d="100"/>
      </p:scale>
      <p:origin x="0" y="-3978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customXml" Target="../customXml/item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1.xml"/><Relationship Id="rId24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" Target="slides/slide5.xml"/><Relationship Id="rId23" Type="http://schemas.openxmlformats.org/officeDocument/2006/relationships/viewProps" Target="viewProps.xml"/><Relationship Id="rId10" Type="http://schemas.openxmlformats.org/officeDocument/2006/relationships/slideMaster" Target="slideMasters/slideMaster1.xml"/><Relationship Id="rId19" Type="http://schemas.openxmlformats.org/officeDocument/2006/relationships/slide" Target="slides/slide9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4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F25DE2-B715-4EA4-8CF0-DA425EA806A7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99BBE-B871-48D7-983C-C0B1D7156D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71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6919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at the top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 descr="{&quot;templafy&quot;:{&quot;id&quot;:&quot;0e5b527a-3d90-4e88-a06e-e938b7f1c9b6&quot;}}">
            <a:extLst>
              <a:ext uri="{FF2B5EF4-FFF2-40B4-BE49-F238E27FC236}">
                <a16:creationId xmlns:a16="http://schemas.microsoft.com/office/drawing/2014/main" id="{3A915C78-7D6E-1295-0948-C16B4CAD7BAC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" name="Black75"/>
          <p:cNvSpPr/>
          <p:nvPr userDrawn="1"/>
        </p:nvSpPr>
        <p:spPr>
          <a:xfrm>
            <a:off x="0" y="75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5" name="Rectangle 4" descr="{&quot;templafy&quot;:{&quot;id&quot;:&quot;50bcac18-bc09-4bfd-a03e-a918438f2568&quot;}}">
            <a:extLst>
              <a:ext uri="{FF2B5EF4-FFF2-40B4-BE49-F238E27FC236}">
                <a16:creationId xmlns:a16="http://schemas.microsoft.com/office/drawing/2014/main" id="{72504917-0F58-D488-C3C4-52C1BEFA8B7E}"/>
              </a:ext>
            </a:extLst>
          </p:cNvPr>
          <p:cNvSpPr/>
          <p:nvPr userDrawn="1"/>
        </p:nvSpPr>
        <p:spPr>
          <a:xfrm>
            <a:off x="1" y="754675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[Title]</a:t>
            </a:r>
          </a:p>
        </p:txBody>
      </p:sp>
      <p:sp>
        <p:nvSpPr>
          <p:cNvPr id="6" name="Rectangle 5" descr="{&quot;templafy&quot;:{&quot;id&quot;:&quot;3f2967ac-5798-4c72-b5bd-353602e77653&quot;}}">
            <a:extLst>
              <a:ext uri="{FF2B5EF4-FFF2-40B4-BE49-F238E27FC236}">
                <a16:creationId xmlns:a16="http://schemas.microsoft.com/office/drawing/2014/main" id="{46DF2CC8-8F92-02D0-C277-1219471F7DED}"/>
              </a:ext>
            </a:extLst>
          </p:cNvPr>
          <p:cNvSpPr/>
          <p:nvPr userDrawn="1"/>
        </p:nvSpPr>
        <p:spPr>
          <a:xfrm>
            <a:off x="1" y="1545350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000" b="1" dirty="0">
                <a:latin typeface="+mn-lt"/>
              </a:rPr>
              <a:t>[Subtitle or date]</a:t>
            </a:r>
          </a:p>
        </p:txBody>
      </p:sp>
      <p:sp>
        <p:nvSpPr>
          <p:cNvPr id="14" name="Rectangle 13" descr="{&quot;templafy&quot;:{&quot;id&quot;:&quot;5871fdfc-1616-482a-b92a-57a54a74cf93&quot;}}">
            <a:extLst>
              <a:ext uri="{FF2B5EF4-FFF2-40B4-BE49-F238E27FC236}">
                <a16:creationId xmlns:a16="http://schemas.microsoft.com/office/drawing/2014/main" id="{55166E2C-6BB2-63E0-6516-08C074E0A386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[Owner]</a:t>
            </a:r>
          </a:p>
        </p:txBody>
      </p:sp>
    </p:spTree>
    <p:extLst>
      <p:ext uri="{BB962C8B-B14F-4D97-AF65-F5344CB8AC3E}">
        <p14:creationId xmlns:p14="http://schemas.microsoft.com/office/powerpoint/2010/main" val="164422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in the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ack75"/>
          <p:cNvSpPr/>
          <p:nvPr userDrawn="1"/>
        </p:nvSpPr>
        <p:spPr>
          <a:xfrm>
            <a:off x="0" y="183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15" name="Rectangle 14" descr="{&quot;templafy&quot;:{&quot;id&quot;:&quot;9c7a5cb5-8144-4203-97c6-a0d35d233a00&quot;}}">
            <a:extLst>
              <a:ext uri="{FF2B5EF4-FFF2-40B4-BE49-F238E27FC236}">
                <a16:creationId xmlns:a16="http://schemas.microsoft.com/office/drawing/2014/main" id="{EF27D3DC-827E-B7E1-41BB-32667AD73885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6" name="Rectangle 15" descr="{&quot;templafy&quot;:{&quot;id&quot;:&quot;436d1937-4d56-4636-aae6-ee6b855a9e92&quot;}}">
            <a:extLst>
              <a:ext uri="{FF2B5EF4-FFF2-40B4-BE49-F238E27FC236}">
                <a16:creationId xmlns:a16="http://schemas.microsoft.com/office/drawing/2014/main" id="{622B89E9-6ADB-FD59-9BA3-5B4FA0249F84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[Owner]</a:t>
            </a:r>
          </a:p>
        </p:txBody>
      </p:sp>
      <p:sp>
        <p:nvSpPr>
          <p:cNvPr id="17" name="Rectangle 16" descr="{&quot;templafy&quot;:{&quot;id&quot;:&quot;9cb4fe64-f1f7-4586-bb2d-6aedacc7ca68&quot;}}">
            <a:extLst>
              <a:ext uri="{FF2B5EF4-FFF2-40B4-BE49-F238E27FC236}">
                <a16:creationId xmlns:a16="http://schemas.microsoft.com/office/drawing/2014/main" id="{A2B0419A-D8EF-AF6A-C5AA-614FA8DA7382}"/>
              </a:ext>
            </a:extLst>
          </p:cNvPr>
          <p:cNvSpPr/>
          <p:nvPr userDrawn="1"/>
        </p:nvSpPr>
        <p:spPr>
          <a:xfrm>
            <a:off x="1" y="1837724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[Title]</a:t>
            </a:r>
          </a:p>
        </p:txBody>
      </p:sp>
      <p:sp>
        <p:nvSpPr>
          <p:cNvPr id="18" name="Rectangle 17" descr="{&quot;templafy&quot;:{&quot;id&quot;:&quot;8676d802-0bb3-4be6-a485-a42ca1296321&quot;}}">
            <a:extLst>
              <a:ext uri="{FF2B5EF4-FFF2-40B4-BE49-F238E27FC236}">
                <a16:creationId xmlns:a16="http://schemas.microsoft.com/office/drawing/2014/main" id="{EDA61324-A70A-DAD9-794B-665557D014A1}"/>
              </a:ext>
            </a:extLst>
          </p:cNvPr>
          <p:cNvSpPr/>
          <p:nvPr userDrawn="1"/>
        </p:nvSpPr>
        <p:spPr>
          <a:xfrm>
            <a:off x="1" y="2628399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000" b="1" dirty="0">
                <a:latin typeface="+mn-lt"/>
              </a:rPr>
              <a:t>[Subtitle or date]</a:t>
            </a:r>
          </a:p>
        </p:txBody>
      </p:sp>
    </p:spTree>
    <p:extLst>
      <p:ext uri="{BB962C8B-B14F-4D97-AF65-F5344CB8AC3E}">
        <p14:creationId xmlns:p14="http://schemas.microsoft.com/office/powerpoint/2010/main" val="293110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at th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lack75"/>
          <p:cNvSpPr/>
          <p:nvPr userDrawn="1"/>
        </p:nvSpPr>
        <p:spPr>
          <a:xfrm>
            <a:off x="0" y="291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16" name="Rectangle 15" descr="{&quot;templafy&quot;:{&quot;id&quot;:&quot;a319365d-1bdc-4cd5-8217-d38f95588f33&quot;}}">
            <a:extLst>
              <a:ext uri="{FF2B5EF4-FFF2-40B4-BE49-F238E27FC236}">
                <a16:creationId xmlns:a16="http://schemas.microsoft.com/office/drawing/2014/main" id="{C51ED843-127C-30BA-85DB-FDA76ABBF883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7" name="Rectangle 16" descr="{&quot;templafy&quot;:{&quot;id&quot;:&quot;82753c11-9c27-4ae5-95f8-efe8694ad8e6&quot;}}">
            <a:extLst>
              <a:ext uri="{FF2B5EF4-FFF2-40B4-BE49-F238E27FC236}">
                <a16:creationId xmlns:a16="http://schemas.microsoft.com/office/drawing/2014/main" id="{203F9367-093B-506B-B9C1-31FF47E06A2A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Sadra Moosavi Lar - 2139901</a:t>
            </a:r>
          </a:p>
        </p:txBody>
      </p:sp>
      <p:sp>
        <p:nvSpPr>
          <p:cNvPr id="18" name="Rectangle 17" descr="{&quot;templafy&quot;:{&quot;id&quot;:&quot;f968fff4-206d-4ae2-bcd1-8dde7376f40f&quot;}}">
            <a:extLst>
              <a:ext uri="{FF2B5EF4-FFF2-40B4-BE49-F238E27FC236}">
                <a16:creationId xmlns:a16="http://schemas.microsoft.com/office/drawing/2014/main" id="{9D303C58-72C0-6292-B9C6-E0F1B06AD4EC}"/>
              </a:ext>
            </a:extLst>
          </p:cNvPr>
          <p:cNvSpPr/>
          <p:nvPr userDrawn="1"/>
        </p:nvSpPr>
        <p:spPr>
          <a:xfrm>
            <a:off x="6668" y="2909511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Progress Report on Thesis </a:t>
            </a:r>
          </a:p>
        </p:txBody>
      </p:sp>
      <p:sp>
        <p:nvSpPr>
          <p:cNvPr id="19" name="Rectangle 18" descr="{&quot;templafy&quot;:{&quot;id&quot;:&quot;d5e4e40c-3f52-44bb-bd94-0c2e857cdb17&quot;}}">
            <a:extLst>
              <a:ext uri="{FF2B5EF4-FFF2-40B4-BE49-F238E27FC236}">
                <a16:creationId xmlns:a16="http://schemas.microsoft.com/office/drawing/2014/main" id="{AAFBC4FF-0C69-5557-BB41-080973EEE5A3}"/>
              </a:ext>
            </a:extLst>
          </p:cNvPr>
          <p:cNvSpPr/>
          <p:nvPr userDrawn="1"/>
        </p:nvSpPr>
        <p:spPr>
          <a:xfrm>
            <a:off x="6668" y="3700186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fld id="{1A603C3A-77C1-0940-9355-EF960D2C4525}" type="datetime3">
              <a:rPr lang="en-US" sz="1000" b="1" smtClean="0">
                <a:latin typeface="+mn-lt"/>
              </a:rPr>
              <a:t>25 February 2026</a:t>
            </a:fld>
            <a:endParaRPr lang="en-US" sz="1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374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443" y="518711"/>
            <a:ext cx="7556500" cy="539038"/>
          </a:xfrm>
        </p:spPr>
        <p:txBody>
          <a:bodyPr/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6443" y="1294737"/>
            <a:ext cx="7556501" cy="2922458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212861902" name="Rectangle 20" descr="{&quot;templafy&quot;:{&quot;id&quot;:&quot;da8acce6-7b5a-4867-be02-c453b958f46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83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5793"/>
            <a:ext cx="359568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3606" y="1296000"/>
            <a:ext cx="3595688" cy="29331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714875" y="586800"/>
            <a:ext cx="3604419" cy="732238"/>
          </a:xfrm>
        </p:spPr>
        <p:txBody>
          <a:bodyPr anchor="t"/>
          <a:lstStyle>
            <a:lvl1pPr marL="0" indent="0">
              <a:buNone/>
              <a:defRPr lang="nl-NL" sz="1950" b="0" kern="120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pic>
        <p:nvPicPr>
          <p:cNvPr id="918533759" name="Rectangle 7" descr="{&quot;templafy&quot;:{&quot;id&quot;:&quot;354f1681-864a-416c-8c71-142c22f890c7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40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text -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4714875" y="0"/>
            <a:ext cx="4429125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405019404" name="Rectangle 3" descr="{&quot;templafy&quot;:{&quot;id&quot;:&quot;f5a7761c-cf48-492a-9f48-35d6978b765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4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 -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491013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491331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6046788" y="0"/>
            <a:ext cx="3097212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066865196" name="Rectangle 3" descr="{&quot;templafy&quot;:{&quot;id&quot;:&quot;dabe0df5-77b0-4bb4-8e04-2c5ab0300a38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40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image/movi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</a:t>
            </a:r>
            <a:endParaRPr lang="en-US"/>
          </a:p>
        </p:txBody>
      </p:sp>
      <p:sp>
        <p:nvSpPr>
          <p:cNvPr id="10" name="Tijdelijke aanduiding voor inhoud 9"/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1889125" y="1079501"/>
            <a:ext cx="5292725" cy="2977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icon to insert 16x9 image or movie</a:t>
            </a:r>
            <a:endParaRPr lang="en-US"/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4" hasCustomPrompt="1"/>
          </p:nvPr>
        </p:nvSpPr>
        <p:spPr>
          <a:xfrm>
            <a:off x="1889125" y="4106268"/>
            <a:ext cx="5292725" cy="165100"/>
          </a:xfrm>
        </p:spPr>
        <p:txBody>
          <a:bodyPr/>
          <a:lstStyle>
            <a:lvl1pPr>
              <a:defRPr sz="1100" i="1"/>
            </a:lvl1pPr>
          </a:lstStyle>
          <a:p>
            <a:pPr lvl="0"/>
            <a:r>
              <a:rPr lang="en-US" dirty="0"/>
              <a:t>Click to insert Caption under image or movie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49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 27pt headline on a slide with three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8824" y="1306642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3490913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4" hasCustomPrompt="1"/>
          </p:nvPr>
        </p:nvSpPr>
        <p:spPr>
          <a:xfrm>
            <a:off x="6235414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5" hasCustomPrompt="1"/>
          </p:nvPr>
        </p:nvSpPr>
        <p:spPr>
          <a:xfrm>
            <a:off x="755650" y="1943101"/>
            <a:ext cx="2087563" cy="262529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sp>
        <p:nvSpPr>
          <p:cNvPr id="11" name="Tijdelijke aanduiding voor afbeelding 9"/>
          <p:cNvSpPr>
            <a:spLocks noGrp="1"/>
          </p:cNvSpPr>
          <p:nvPr>
            <p:ph type="pic" sz="quarter" idx="16" hasCustomPrompt="1"/>
          </p:nvPr>
        </p:nvSpPr>
        <p:spPr>
          <a:xfrm>
            <a:off x="3487739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  <p:sp>
        <p:nvSpPr>
          <p:cNvPr id="12" name="Tijdelijke aanduiding voor afbeelding 9"/>
          <p:cNvSpPr>
            <a:spLocks noGrp="1"/>
          </p:cNvSpPr>
          <p:nvPr>
            <p:ph type="pic" sz="quarter" idx="17" hasCustomPrompt="1"/>
          </p:nvPr>
        </p:nvSpPr>
        <p:spPr>
          <a:xfrm>
            <a:off x="6235414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20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- 1/2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518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20343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54513" cy="456723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506598195" name="Rectangle 3" descr="{&quot;templafy&quot;:{&quot;id&quot;:&quot;d1b58bd7-7598-486e-9a89-256bb44d1248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27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- 2/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94405" y="586800"/>
            <a:ext cx="482092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91230" y="1295401"/>
            <a:ext cx="4824095" cy="2933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022600" cy="4567238"/>
          </a:xfrm>
        </p:spPr>
        <p:txBody>
          <a:bodyPr/>
          <a:lstStyle/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059053793" name="Rectangle 3" descr="{&quot;templafy&quot;:{&quot;id&quot;:&quot;87548106-368b-4e2a-8d17-87420d681e29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2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dark image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B5C4EFD-F141-47C5-CA31-3E0B03FF70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5675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This is an example of a white headline on a full screen, dark 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5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light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This is an example of a black headline on a full screen, light image</a:t>
            </a:r>
            <a:endParaRPr lang="en-US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58AC4756-856D-316D-C785-243FF7236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5675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83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This is an example of a black headline on a white background</a:t>
            </a:r>
            <a:endParaRPr lang="en-US"/>
          </a:p>
        </p:txBody>
      </p:sp>
      <p:cxnSp>
        <p:nvCxnSpPr>
          <p:cNvPr id="7" name="Rechte verbindingslijn 6"/>
          <p:cNvCxnSpPr/>
          <p:nvPr userDrawn="1"/>
        </p:nvCxnSpPr>
        <p:spPr>
          <a:xfrm>
            <a:off x="0" y="4563782"/>
            <a:ext cx="9144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jdelijke aanduiding voor afbeelding 8"/>
          <p:cNvSpPr>
            <a:spLocks noGrp="1"/>
          </p:cNvSpPr>
          <p:nvPr>
            <p:ph type="pic" sz="quarter" idx="13" hasCustomPrompt="1"/>
          </p:nvPr>
        </p:nvSpPr>
        <p:spPr>
          <a:xfrm>
            <a:off x="1890000" y="1299075"/>
            <a:ext cx="5292725" cy="29772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86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carlet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382731793" name="Rectangle 6" descr="{&quot;templafy&quot;:{&quot;id&quot;:&quot;9d9cd7d2-12ec-4c65-8c77-2a3d1eabdf6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96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Sample slide with table and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1" y="2638425"/>
            <a:ext cx="7563556" cy="1590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8" name="Tijdelijke aanduiding voor tabel 7"/>
          <p:cNvSpPr>
            <a:spLocks noGrp="1"/>
          </p:cNvSpPr>
          <p:nvPr>
            <p:ph type="tbl" sz="quarter" idx="13" hasCustomPrompt="1"/>
          </p:nvPr>
        </p:nvSpPr>
        <p:spPr>
          <a:xfrm>
            <a:off x="755650" y="1079501"/>
            <a:ext cx="7559675" cy="115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table</a:t>
            </a:r>
            <a:endParaRPr lang="en-US"/>
          </a:p>
        </p:txBody>
      </p:sp>
      <p:pic>
        <p:nvPicPr>
          <p:cNvPr id="419903561" name="Rectangle 3" descr="{&quot;templafy&quot;:{&quot;id&quot;:&quot;1120b0c9-d33b-4baf-add8-56ea532d7515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8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Example chart</a:t>
            </a:r>
            <a:endParaRPr lang="en-US"/>
          </a:p>
        </p:txBody>
      </p:sp>
      <p:sp>
        <p:nvSpPr>
          <p:cNvPr id="9" name="Tijdelijke aanduiding voor grafiek 8"/>
          <p:cNvSpPr>
            <a:spLocks noGrp="1"/>
          </p:cNvSpPr>
          <p:nvPr>
            <p:ph type="chart" sz="quarter" idx="13" hasCustomPrompt="1"/>
          </p:nvPr>
        </p:nvSpPr>
        <p:spPr>
          <a:xfrm>
            <a:off x="755650" y="1079500"/>
            <a:ext cx="7559675" cy="31496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chart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4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674435-4D3F-D6A8-A0BB-6B63593D62BC}"/>
              </a:ext>
            </a:extLst>
          </p:cNvPr>
          <p:cNvSpPr txBox="1"/>
          <p:nvPr userDrawn="1"/>
        </p:nvSpPr>
        <p:spPr>
          <a:xfrm>
            <a:off x="1933073" y="1602619"/>
            <a:ext cx="5277854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2281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824" y="1306642"/>
            <a:ext cx="7556501" cy="29224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err="1"/>
              <a:t>Klik</a:t>
            </a:r>
            <a:r>
              <a:rPr lang="en-US" dirty="0"/>
              <a:t> om de </a:t>
            </a:r>
            <a:r>
              <a:rPr lang="en-US" dirty="0" err="1"/>
              <a:t>modelstijlen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bewerken</a:t>
            </a:r>
            <a:endParaRPr lang="en-US" dirty="0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66" name="Picture 4">
            <a:extLst>
              <a:ext uri="{FF2B5EF4-FFF2-40B4-BE49-F238E27FC236}">
                <a16:creationId xmlns:a16="http://schemas.microsoft.com/office/drawing/2014/main" id="{93FD69BB-9D62-3A4C-8433-C5954D52BB6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8156575" y="4568825"/>
            <a:ext cx="987425" cy="574675"/>
          </a:xfrm>
          <a:prstGeom prst="rect">
            <a:avLst/>
          </a:prstGeom>
        </p:spPr>
      </p:pic>
      <p:sp>
        <p:nvSpPr>
          <p:cNvPr id="4" name="Rectangle 3" descr="{&quot;templafy&quot;:{&quot;id&quot;:&quot;3093273a-680f-4802-91c8-5822ae71304c&quot;}}">
            <a:extLst>
              <a:ext uri="{FF2B5EF4-FFF2-40B4-BE49-F238E27FC236}">
                <a16:creationId xmlns:a16="http://schemas.microsoft.com/office/drawing/2014/main" id="{CAB1518B-D283-A4E3-DB27-70B344BB7683}"/>
              </a:ext>
            </a:extLst>
          </p:cNvPr>
          <p:cNvSpPr/>
          <p:nvPr userDrawn="1"/>
        </p:nvSpPr>
        <p:spPr>
          <a:xfrm>
            <a:off x="1114425" y="4568400"/>
            <a:ext cx="7042149" cy="574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Progress Report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727E33-D15C-F68D-AC24-C5E575E9DE15}"/>
              </a:ext>
            </a:extLst>
          </p:cNvPr>
          <p:cNvSpPr/>
          <p:nvPr userDrawn="1"/>
        </p:nvSpPr>
        <p:spPr>
          <a:xfrm>
            <a:off x="0" y="4568399"/>
            <a:ext cx="1114424" cy="574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BCDE33B9-1F9E-4BC2-BE93-A4176EB52515}" type="slidenum">
              <a:rPr lang="en-US" smtClean="0">
                <a:solidFill>
                  <a:schemeClr val="tx1"/>
                </a:solidFill>
              </a:rPr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791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61" r:id="rId3"/>
    <p:sldLayoutId id="2147483662" r:id="rId4"/>
    <p:sldLayoutId id="2147483664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6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hf hdr="0" dt="0"/>
  <p:txStyles>
    <p:titleStyle>
      <a:lvl1pPr algn="l" defTabSz="685800" rtl="0" eaLnBrk="1" latinLnBrk="0" hangingPunct="1">
        <a:lnSpc>
          <a:spcPts val="27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65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4pPr>
      <a:lvl5pPr marL="539750" indent="-17780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7.xml"/><Relationship Id="rId5" Type="http://schemas.openxmlformats.org/officeDocument/2006/relationships/image" Target="../media/image4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34709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607D3-CD76-1BCE-1CB2-9B10F85BF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C9464-8A7B-3F0D-D080-94EC1DAF7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Background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Project Goal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Research Method (means, steps, results)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Project Planning</a:t>
            </a:r>
          </a:p>
        </p:txBody>
      </p:sp>
    </p:spTree>
    <p:extLst>
      <p:ext uri="{BB962C8B-B14F-4D97-AF65-F5344CB8AC3E}">
        <p14:creationId xmlns:p14="http://schemas.microsoft.com/office/powerpoint/2010/main" val="4249096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084AA-291E-67E3-A2F1-438A31288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</a:t>
            </a:r>
            <a:br>
              <a:rPr lang="en-US" dirty="0"/>
            </a:br>
            <a:r>
              <a:rPr lang="en-US" dirty="0"/>
              <a:t>(based on Digital Engineering </a:t>
            </a:r>
            <a:r>
              <a:rPr lang="en-US" dirty="0" err="1"/>
              <a:t>HandBk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70AB6-AD85-2E4B-EDA3-1C9D54426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Digital Engineering (DE) is an engineering approach centered on integrated digital models, data, and simulations across the lifecycle.</a:t>
            </a:r>
          </a:p>
          <a:p>
            <a:pPr>
              <a:spcAft>
                <a:spcPts val="600"/>
              </a:spcAft>
            </a:pPr>
            <a:r>
              <a:rPr lang="en-US" b="1" dirty="0"/>
              <a:t>Core idea</a:t>
            </a:r>
          </a:p>
          <a:p>
            <a:pPr marL="523875" lvl="2" indent="-342900"/>
            <a:r>
              <a:rPr lang="en-US" sz="1300" dirty="0"/>
              <a:t>Replace document-centric engineering with model-centric engineering</a:t>
            </a:r>
          </a:p>
          <a:p>
            <a:pPr marL="523875" lvl="2" indent="-342900"/>
            <a:r>
              <a:rPr lang="en-US" sz="1300" dirty="0"/>
              <a:t>Enable continuous digital integration across:</a:t>
            </a:r>
          </a:p>
          <a:p>
            <a:pPr marL="523875" lvl="2" indent="-342900"/>
            <a:r>
              <a:rPr lang="en-US" sz="1300" dirty="0"/>
              <a:t>Mission → System → Subsystem → Components</a:t>
            </a:r>
          </a:p>
          <a:p>
            <a:pPr marL="523875" lvl="2" indent="-342900"/>
            <a:r>
              <a:rPr lang="en-US" sz="1300" dirty="0"/>
              <a:t>Support decision-making via linked digital artifacts</a:t>
            </a:r>
          </a:p>
          <a:p>
            <a:pPr>
              <a:spcAft>
                <a:spcPts val="600"/>
              </a:spcAft>
            </a:pPr>
            <a:r>
              <a:rPr lang="en-US" b="1" dirty="0"/>
              <a:t>Key characteristics</a:t>
            </a:r>
          </a:p>
          <a:p>
            <a:pPr marL="523875" lvl="2" indent="-342900"/>
            <a:r>
              <a:rPr lang="en-US" sz="1200" dirty="0"/>
              <a:t>Model-based lifecycle management</a:t>
            </a:r>
          </a:p>
          <a:p>
            <a:pPr marL="523875" lvl="2" indent="-342900"/>
            <a:r>
              <a:rPr lang="en-US" sz="1200" dirty="0"/>
              <a:t>Integrated simulation and analytics</a:t>
            </a:r>
          </a:p>
          <a:p>
            <a:pPr marL="523875" lvl="2" indent="-342900"/>
            <a:r>
              <a:rPr lang="en-US" sz="1200" dirty="0"/>
              <a:t>Cross-discipline collaboration</a:t>
            </a:r>
          </a:p>
          <a:p>
            <a:pPr marL="523875" lvl="2" indent="-342900"/>
            <a:r>
              <a:rPr lang="en-US" sz="1200" dirty="0"/>
              <a:t>Authoritative Source of Truth (ASOT)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63FFDF-7926-0A78-533C-C7C67F13B7A7}"/>
              </a:ext>
            </a:extLst>
          </p:cNvPr>
          <p:cNvSpPr txBox="1"/>
          <p:nvPr/>
        </p:nvSpPr>
        <p:spPr>
          <a:xfrm>
            <a:off x="6532775" y="3611075"/>
            <a:ext cx="2538166" cy="71558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👉 DE acts as an umbrella domain connecting engineering models, data, and simulations.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7B17DE-AF23-E8A1-A4E7-E1A0C4A29C2F}"/>
              </a:ext>
            </a:extLst>
          </p:cNvPr>
          <p:cNvSpPr txBox="1"/>
          <p:nvPr/>
        </p:nvSpPr>
        <p:spPr>
          <a:xfrm>
            <a:off x="2486320" y="4624789"/>
            <a:ext cx="548168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Blackburn, M. R., Dunbar, D., Hagedorn, T., </a:t>
            </a:r>
            <a:r>
              <a:rPr lang="en-US" sz="900" dirty="0" err="1"/>
              <a:t>Hespelt</a:t>
            </a:r>
            <a:r>
              <a:rPr lang="en-US" sz="900" dirty="0"/>
              <a:t>, S., Collard, C., Jenkins, J. S., &amp; contributors. (2025). Handbook on digital engineering with ontologies (Version 2.0). Systems Engineering Research Center, Stevens Institute of Technology.</a:t>
            </a:r>
          </a:p>
        </p:txBody>
      </p:sp>
    </p:spTree>
    <p:extLst>
      <p:ext uri="{BB962C8B-B14F-4D97-AF65-F5344CB8AC3E}">
        <p14:creationId xmlns:p14="http://schemas.microsoft.com/office/powerpoint/2010/main" val="88458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8EB52-A32C-5F5F-AB01-9ACACD392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(History)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FC45B-4424-78E2-FCDF-A2A7CD8B6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442" y="1057749"/>
            <a:ext cx="7556501" cy="3367211"/>
          </a:xfrm>
        </p:spPr>
        <p:txBody>
          <a:bodyPr/>
          <a:lstStyle/>
          <a:p>
            <a:r>
              <a:rPr lang="en-US" sz="1800" b="1" dirty="0"/>
              <a:t>Traditional Systems Engineering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Document-centric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Manual integration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Limited traceability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800" b="1" dirty="0"/>
              <a:t>Model-Based Systems Engineering (MBSE)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Structured modeling languages (SysML)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Improved traceability and architecture modeling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800" b="1" dirty="0"/>
              <a:t>Digital Engineering (Current Stage)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Fully digital ecosystem:</a:t>
            </a:r>
          </a:p>
          <a:p>
            <a:pPr marL="523875" lvl="2" indent="-342900"/>
            <a:r>
              <a:rPr lang="en-US" sz="1200" dirty="0"/>
              <a:t>Models</a:t>
            </a:r>
          </a:p>
          <a:p>
            <a:pPr marL="523875" lvl="2" indent="-342900"/>
            <a:r>
              <a:rPr lang="en-US" sz="1200" dirty="0"/>
              <a:t>Simulations</a:t>
            </a:r>
          </a:p>
          <a:p>
            <a:pPr marL="523875" lvl="2" indent="-342900"/>
            <a:r>
              <a:rPr lang="en-US" sz="1200" dirty="0"/>
              <a:t>Data repositories</a:t>
            </a:r>
          </a:p>
          <a:p>
            <a:pPr marL="523875" lvl="2" indent="-342900"/>
            <a:r>
              <a:rPr lang="en-US" sz="1200" dirty="0"/>
              <a:t>Analytics dashboards</a:t>
            </a:r>
          </a:p>
        </p:txBody>
      </p:sp>
    </p:spTree>
    <p:extLst>
      <p:ext uri="{BB962C8B-B14F-4D97-AF65-F5344CB8AC3E}">
        <p14:creationId xmlns:p14="http://schemas.microsoft.com/office/powerpoint/2010/main" val="2405976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D5720-AFA3-B904-1096-56DCFB328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(Problem)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DBB0E-EBBE-4111-562A-04BD24244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Core Problem</a:t>
            </a:r>
            <a:endParaRPr lang="en-US" dirty="0"/>
          </a:p>
          <a:p>
            <a:r>
              <a:rPr lang="en-US" dirty="0"/>
              <a:t>Engineering data exist in isolated domains: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Mechanical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Electrical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Software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Operational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dirty="0"/>
              <a:t>Result: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Fragmented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Poor decision visibility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Manual integration</a:t>
            </a:r>
          </a:p>
        </p:txBody>
      </p:sp>
      <p:sp>
        <p:nvSpPr>
          <p:cNvPr id="4" name="Chevron 3">
            <a:extLst>
              <a:ext uri="{FF2B5EF4-FFF2-40B4-BE49-F238E27FC236}">
                <a16:creationId xmlns:a16="http://schemas.microsoft.com/office/drawing/2014/main" id="{D8C8D244-84F7-FBB5-916C-9F29595FF348}"/>
              </a:ext>
            </a:extLst>
          </p:cNvPr>
          <p:cNvSpPr/>
          <p:nvPr/>
        </p:nvSpPr>
        <p:spPr>
          <a:xfrm>
            <a:off x="3733014" y="3044857"/>
            <a:ext cx="744717" cy="904973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15FC6-7C28-5CC9-47A6-AD74FA73201B}"/>
              </a:ext>
            </a:extLst>
          </p:cNvPr>
          <p:cNvSpPr txBox="1"/>
          <p:nvPr/>
        </p:nvSpPr>
        <p:spPr>
          <a:xfrm>
            <a:off x="5631898" y="2890372"/>
            <a:ext cx="25265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50" dirty="0"/>
              <a:t>Solution Direction: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Ontologies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Semantic technologies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Integration frameworks (</a:t>
            </a:r>
            <a:r>
              <a:rPr lang="en-US" dirty="0" err="1"/>
              <a:t>IoIF</a:t>
            </a:r>
            <a:r>
              <a:rPr lang="en-US" dirty="0"/>
              <a:t>)</a:t>
            </a:r>
          </a:p>
        </p:txBody>
      </p:sp>
      <p:pic>
        <p:nvPicPr>
          <p:cNvPr id="7" name="Picture 6" descr="A map of military personnel&#10;&#10;AI-generated content may be incorrect.">
            <a:extLst>
              <a:ext uri="{FF2B5EF4-FFF2-40B4-BE49-F238E27FC236}">
                <a16:creationId xmlns:a16="http://schemas.microsoft.com/office/drawing/2014/main" id="{55638FEF-651F-B9E6-EF8D-732BCCDB20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4446" y="224221"/>
            <a:ext cx="2962243" cy="2347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DD3F4-8457-EA4C-1896-B686CDB2A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(Ontologies)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68783-92B8-0E9B-544E-D1052797B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443" y="1294737"/>
            <a:ext cx="7556501" cy="3220702"/>
          </a:xfrm>
        </p:spPr>
        <p:txBody>
          <a:bodyPr/>
          <a:lstStyle/>
          <a:p>
            <a:r>
              <a:rPr lang="en-US" sz="1800" b="1" dirty="0"/>
              <a:t>What is an ontology?</a:t>
            </a:r>
          </a:p>
          <a:p>
            <a:pPr lvl="2"/>
            <a:r>
              <a:rPr lang="en-US" sz="1800" dirty="0"/>
              <a:t>A formal description of:</a:t>
            </a:r>
          </a:p>
          <a:p>
            <a:pPr marL="523875" lvl="2" indent="-342900"/>
            <a:r>
              <a:rPr lang="en-US" sz="1400" dirty="0"/>
              <a:t>Concepts</a:t>
            </a:r>
          </a:p>
          <a:p>
            <a:pPr marL="523875" lvl="2" indent="-342900"/>
            <a:r>
              <a:rPr lang="en-US" sz="1400" dirty="0"/>
              <a:t>Relationships</a:t>
            </a:r>
          </a:p>
          <a:p>
            <a:pPr marL="523875" lvl="2" indent="-342900"/>
            <a:r>
              <a:rPr lang="en-US" sz="1400" dirty="0"/>
              <a:t>Domain knowledge</a:t>
            </a:r>
            <a:endParaRPr lang="en-US" sz="1800" dirty="0"/>
          </a:p>
          <a:p>
            <a:pPr lvl="2"/>
            <a:r>
              <a:rPr lang="en-US" sz="1800" dirty="0"/>
              <a:t>Why ontologies matter in DE</a:t>
            </a:r>
            <a:endParaRPr lang="en-US" sz="1400" dirty="0"/>
          </a:p>
          <a:p>
            <a:pPr marL="523875" lvl="2" indent="-342900"/>
            <a:r>
              <a:rPr lang="en-US" sz="1400" dirty="0"/>
              <a:t>Enable semantic interoperability</a:t>
            </a:r>
          </a:p>
          <a:p>
            <a:pPr marL="523875" lvl="2" indent="-342900"/>
            <a:r>
              <a:rPr lang="en-US" sz="1400" dirty="0"/>
              <a:t>Allow automated reasoning</a:t>
            </a:r>
          </a:p>
          <a:p>
            <a:pPr marL="523875" lvl="2" indent="-342900"/>
            <a:r>
              <a:rPr lang="en-US" sz="1400" dirty="0"/>
              <a:t>Support model consistency checking</a:t>
            </a:r>
            <a:endParaRPr lang="en-US" sz="1800" dirty="0"/>
          </a:p>
          <a:p>
            <a:pPr lvl="2"/>
            <a:r>
              <a:rPr lang="en-US" sz="1800" dirty="0"/>
              <a:t>Technologies used</a:t>
            </a:r>
          </a:p>
          <a:p>
            <a:pPr marL="523875" lvl="2" indent="-342900"/>
            <a:r>
              <a:rPr lang="en-US" sz="1400" dirty="0"/>
              <a:t>OWL (Web Ontology Language)</a:t>
            </a:r>
          </a:p>
          <a:p>
            <a:pPr marL="523875" lvl="2" indent="-342900"/>
            <a:r>
              <a:rPr lang="en-US" sz="1400" dirty="0"/>
              <a:t>Semantic Web tools</a:t>
            </a:r>
          </a:p>
          <a:p>
            <a:pPr marL="523875" lvl="2" indent="-342900"/>
            <a:r>
              <a:rPr lang="en-US" sz="1400" dirty="0"/>
              <a:t>Knowledge graphs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24EF6B-2CBD-343E-3ADF-0186D90D3F5C}"/>
              </a:ext>
            </a:extLst>
          </p:cNvPr>
          <p:cNvSpPr txBox="1"/>
          <p:nvPr/>
        </p:nvSpPr>
        <p:spPr>
          <a:xfrm>
            <a:off x="2571161" y="4624789"/>
            <a:ext cx="548168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Blackburn, M. (2024, November 12). A digital engineering methodology and framework for interoperability using ontologies. Systems Engineering Research Center Research Review.</a:t>
            </a:r>
          </a:p>
        </p:txBody>
      </p:sp>
    </p:spTree>
    <p:extLst>
      <p:ext uri="{BB962C8B-B14F-4D97-AF65-F5344CB8AC3E}">
        <p14:creationId xmlns:p14="http://schemas.microsoft.com/office/powerpoint/2010/main" val="128962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2D96-08E1-8206-D722-406B5355F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Interoperability &amp; Integration Framework (</a:t>
            </a:r>
            <a:r>
              <a:rPr lang="en-US" dirty="0" err="1"/>
              <a:t>IoIF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7D1D0-BE81-7DBF-80EC-4CE6BFB95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443" y="1057749"/>
            <a:ext cx="7556501" cy="3267836"/>
          </a:xfrm>
        </p:spPr>
        <p:txBody>
          <a:bodyPr/>
          <a:lstStyle/>
          <a:p>
            <a:r>
              <a:rPr lang="en-US" sz="1600" dirty="0"/>
              <a:t>Purpose: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Integrate models, data, and simulations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Enable cross-domain decision support</a:t>
            </a:r>
          </a:p>
          <a:p>
            <a:endParaRPr lang="en-US" sz="1600" dirty="0"/>
          </a:p>
          <a:p>
            <a:r>
              <a:rPr lang="en-US" sz="1600" dirty="0"/>
              <a:t>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Data acquisition and aggregation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Semantic querying and reasoning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Workflow coordination</a:t>
            </a:r>
          </a:p>
          <a:p>
            <a:endParaRPr lang="en-US" sz="1600" dirty="0"/>
          </a:p>
          <a:p>
            <a:r>
              <a:rPr lang="en-US" sz="1600" dirty="0"/>
              <a:t>Outputs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Decision dashboards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Digital thread visualization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Impact analysis tools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AFBAA0-6EAC-E476-E3B8-AD4510E14C01}"/>
              </a:ext>
            </a:extLst>
          </p:cNvPr>
          <p:cNvSpPr txBox="1"/>
          <p:nvPr/>
        </p:nvSpPr>
        <p:spPr>
          <a:xfrm>
            <a:off x="2552308" y="4671924"/>
            <a:ext cx="5481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Bone, M., Blackburn, M., Kruse, B., Dzielski, J., Hagedorn, T., &amp; Grosse, I. (2018). Toward an interoperability and integration framework to enable the digital thread. Systems, 6(4), 46. https://</a:t>
            </a:r>
            <a:r>
              <a:rPr lang="en-US" sz="900" dirty="0" err="1"/>
              <a:t>doi.org</a:t>
            </a:r>
            <a:r>
              <a:rPr lang="en-US" sz="900" dirty="0"/>
              <a:t>/10.3390/systems6040046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F222BA2-55AB-E9CD-B292-B1AEBAFBF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05" y="180799"/>
            <a:ext cx="8951495" cy="478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3325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FDA17-2BBE-D3F0-7001-5D69123BC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Catapult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4D6CA-CCC9-179C-62C0-30A0DB5A3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17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5EC5-E7A5-2414-72E9-B88D4B15E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72A18-B181-8CDA-E974-F12C83A12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443" y="1155400"/>
            <a:ext cx="7556501" cy="3268554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400" dirty="0"/>
              <a:t>How can AI be introduced into Digital Engineering tool-chains to improve model integrity by enabling systematic model interrogation (for FMEA) that supports </a:t>
            </a:r>
            <a:r>
              <a:rPr lang="en-US" sz="1400" dirty="0" err="1"/>
              <a:t>ASoT</a:t>
            </a:r>
            <a:r>
              <a:rPr lang="en-US" sz="1400" dirty="0"/>
              <a:t> use (consistency, traceability, interoperability, explainability)? 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What model representation and reasoning stack (SysML v2/KerML + ontology/knowledge graph + deterministic checks + LLM assistance) yields the best integrity outcomes (to support FMEA) with controlled hallucination risk?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To what extent can an AI-assisted interrogation pipeline generate a useful, traceable FMEA for the catapult(?) system-of-interest/system-of-analysis, </a:t>
            </a:r>
            <a:r>
              <a:rPr lang="en-US" sz="1400" strike="sngStrike" dirty="0"/>
              <a:t>compared to a human-only baseline </a:t>
            </a:r>
            <a:r>
              <a:rPr lang="en-US" sz="1400" dirty="0"/>
              <a:t>(quality, coverage, time)?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Is it “Green”: How much can token usage (and therefore compute cost) be reduced through retrieval/graph-slicing and deterministic computations without materially degrading FMEA quality or integrity findings?</a:t>
            </a:r>
          </a:p>
        </p:txBody>
      </p:sp>
    </p:spTree>
    <p:extLst>
      <p:ext uri="{BB962C8B-B14F-4D97-AF65-F5344CB8AC3E}">
        <p14:creationId xmlns:p14="http://schemas.microsoft.com/office/powerpoint/2010/main" val="2936486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27718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antoorthema">
  <a:themeElements>
    <a:clrScheme name="TUe_PPT_V2">
      <a:dk1>
        <a:sysClr val="windowText" lastClr="000000"/>
      </a:dk1>
      <a:lt1>
        <a:sysClr val="window" lastClr="FFFFFF"/>
      </a:lt1>
      <a:dk2>
        <a:srgbClr val="C81919"/>
      </a:dk2>
      <a:lt2>
        <a:srgbClr val="101073"/>
      </a:lt2>
      <a:accent1>
        <a:srgbClr val="C81919"/>
      </a:accent1>
      <a:accent2>
        <a:srgbClr val="9E9EB1"/>
      </a:accent2>
      <a:accent3>
        <a:srgbClr val="0092B5"/>
      </a:accent3>
      <a:accent4>
        <a:srgbClr val="FF9A00"/>
      </a:accent4>
      <a:accent5>
        <a:srgbClr val="101073"/>
      </a:accent5>
      <a:accent6>
        <a:srgbClr val="CEDF00"/>
      </a:accent6>
      <a:hlink>
        <a:srgbClr val="0563C1"/>
      </a:hlink>
      <a:folHlink>
        <a:srgbClr val="954F72"/>
      </a:folHlink>
    </a:clrScheme>
    <a:fontScheme name="TUe_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e 16x9 EN" id="{97F7A710-2E0D-45AA-B405-AD861E979FF9}" vid="{7E68701C-E484-4FA9-9B1A-14938FE65080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item1.xml><?xml version="1.0" encoding="utf-8"?>
<TemplafySlideTemplateConfiguration><![CDATA[{"slideVersion":1,"isValidatorEnabled":false,"isLocked":false,"elementsMetadata":[],"slideId":"638351419723556149","enableDocumentContentUpdater":false,"version":"2.0"}]]></TemplafySlideTemplateConfiguration>
</file>

<file path=customXml/item2.xml><?xml version="1.0" encoding="utf-8"?>
<TemplafyTemplateConfiguration><![CDATA[{"elementsMetadata":[{"type":"shape","id":"3093273a-680f-4802-91c8-5822ae71304c","elementConfiguration":{"binding":"{{Form.Title}}","visibility":"","type":"text","disableUpdates":false}},{"type":"shape","id":"a319365d-1bdc-4cd5-8217-d38f95588f33","elementConfiguration":{"binding":"{{UserProfile.Department}}","visibility":"","type":"text","disableUpdates":false}},{"type":"shape","id":"82753c11-9c27-4ae5-95f8-efe8694ad8e6","elementConfiguration":{"binding":"{{UserProfile.DisplayName}}, {{UserProfile.JobTitle}}","visibility":"","type":"text","disableUpdates":false}},{"type":"shape","id":"f968fff4-206d-4ae2-bcd1-8dde7376f40f","elementConfiguration":{"binding":"{{Form.Title}}","visibility":"","type":"text","disableUpdates":false}},{"type":"shape","id":"d5e4e40c-3f52-44bb-bd94-0c2e857cdb17","elementConfiguration":{"binding":"{{Form.Subtitle}}","visibility":"","type":"text","disableUpdates":false}},{"type":"shape","id":"dabe0df5-77b0-4bb4-8e04-2c5ab0300a38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9c7a5cb5-8144-4203-97c6-a0d35d233a00","elementConfiguration":{"binding":"{{UserProfile.Department}}","visibility":"","type":"text","disableUpdates":false}},{"type":"shape","id":"436d1937-4d56-4636-aae6-ee6b855a9e92","elementConfiguration":{"binding":"{{UserProfile.DisplayName}}, {{UserProfile.JobTitle}}","visibility":"","type":"text","disableUpdates":false}},{"type":"shape","id":"9cb4fe64-f1f7-4586-bb2d-6aedacc7ca68","elementConfiguration":{"binding":"{{Form.Title}}","visibility":"","type":"text","disableUpdates":false}},{"type":"shape","id":"8676d802-0bb3-4be6-a485-a42ca1296321","elementConfiguration":{"binding":"{{Form.Subtitle}}","visibility":"","type":"text","disableUpdates":false}},{"type":"shape","id":"1120b0c9-d33b-4baf-add8-56ea532d7515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0e5b527a-3d90-4e88-a06e-e938b7f1c9b6","elementConfiguration":{"binding":"{{UserProfile.Department}}","visibility":"","type":"text","disableUpdates":false}},{"type":"shape","id":"50bcac18-bc09-4bfd-a03e-a918438f2568","elementConfiguration":{"binding":"{{Form.Title}}","visibility":"","type":"text","disableUpdates":false}},{"type":"shape","id":"3f2967ac-5798-4c72-b5bd-353602e77653","elementConfiguration":{"binding":"{{Form.Subtitle}}","visibility":"","type":"text","disableUpdates":false}},{"type":"shape","id":"5871fdfc-1616-482a-b92a-57a54a74cf93","elementConfiguration":{"binding":"{{UserProfile.DisplayName}}, {{UserProfile.JobTitle}}","visibility":"","type":"text","disableUpdates":false}},{"type":"shape","id":"f5a7761c-cf48-492a-9f48-35d6978b765b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87548106-368b-4e2a-8d17-87420d681e29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354f1681-864a-416c-8c71-142c22f890c7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9d9cd7d2-12ec-4c65-8c77-2a3d1eabdf6c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d1b58bd7-7598-486e-9a89-256bb44d1248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da8acce6-7b5a-4867-be02-c453b958f46c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],"transformationConfigurations":[{"documentName":"TUe presentation {{StringJoin(\" \", Form.Title, Form.Subtitle)}}","type":"documentName"},{"language":"{{Form.Language.Language}}","disableUpdates":false,"type":"proofingLanguage"}],"templateName":"TUe 16x9 Dynamic","templateDescription":"","enableDocumentContentUpdater":true,"version":"2.0"}]]></TemplafyTemplateConfiguration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dc81a03-33f5-430d-a427-dfbddb1fb524">
      <Terms xmlns="http://schemas.microsoft.com/office/infopath/2007/PartnerControls"/>
    </lcf76f155ced4ddcb4097134ff3c332f>
    <TaxCatchAll xmlns="89addd5d-1b61-4a22-b114-f0fd8c2dcf23" xsi:nil="true"/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TemplafyFormConfiguration><![CDATA[{"formFields":[{"required":false,"placeholder":"","lines":1,"shareValue":false,"type":"textBox","name":"Title","label":"Title"},{"required":false,"placeholder":"Write a subtitle or a date here","lines":1,"shareValue":false,"type":"textBox","name":"Subtitle","label":"Subtitle"},{"distinct":false,"hideIfNoUserInteractionRequired":false,"required":false,"defaultValue":"English (United States) (en-US)","autoSelectFirstOption":false,"helpTexts":{},"spacing":{},"shareValue":false,"type":"dropDown","dataSourceName":"Languages","dataSourceFieldName":"Name","name":"Language","label":"Language"},{"helpTexts":{},"spacing":{},"shareValue":false,"type":"checkBox","name":"ShowPowerPointInstructions","label":"Show PowerPoint instructions"}],"formDataEntries":[{"name":"Title","value":"eu4Owlo/FPCohSwkIJyx1Q=="},{"name":"Subtitle","value":"19hkcit5tGnwft36tb/4OI2IQOzf5pENHJcQTMzNQL4="},{"name":"Language","value":"abeq91JDhYTls/ygBdNhWNG4z6ah1Z8NlH8bM4Qtj1w="},{"name":"ShowPowerPointInstructions","value":"g7RW92AybdteY/S0zarayw=="}]}]]></TemplafyFormConfiguration>
</file>

<file path=customXml/item6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F465149FB9C5448C8CF5199B7F8DE2" ma:contentTypeVersion="10" ma:contentTypeDescription="Create a new document." ma:contentTypeScope="" ma:versionID="8cd7095fbec53cd6e9b4b528d8a754c1">
  <xsd:schema xmlns:xsd="http://www.w3.org/2001/XMLSchema" xmlns:xs="http://www.w3.org/2001/XMLSchema" xmlns:p="http://schemas.microsoft.com/office/2006/metadata/properties" xmlns:ns2="adc81a03-33f5-430d-a427-dfbddb1fb524" xmlns:ns3="89addd5d-1b61-4a22-b114-f0fd8c2dcf23" targetNamespace="http://schemas.microsoft.com/office/2006/metadata/properties" ma:root="true" ma:fieldsID="6f9faedb4f7c4312b114ec66ff6b5f83" ns2:_="" ns3:_="">
    <xsd:import namespace="adc81a03-33f5-430d-a427-dfbddb1fb524"/>
    <xsd:import namespace="89addd5d-1b61-4a22-b114-f0fd8c2dcf23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c81a03-33f5-430d-a427-dfbddb1fb524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f80264a-99e7-47cd-820c-3e92ce78c5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addd5d-1b61-4a22-b114-f0fd8c2dcf23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d7b29c17-ece9-467f-b874-d1c31772652f}" ma:internalName="TaxCatchAll" ma:showField="CatchAllData" ma:web="89addd5d-1b61-4a22-b114-f0fd8c2dcf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7.xml><?xml version="1.0" encoding="utf-8"?>
<TemplafySlideFormConfiguration><![CDATA[{"formFields":[{"required":false,"placeholder":"","lines":1,"shareValue":false,"type":"textBox","name":"Title","label":"Title"},{"required":false,"placeholder":"Write a subtitle or a date here","lines":1,"shareValue":false,"type":"textBox","name":"Subtitle","label":"Subtitle"}],"formDataEntries":[]}]]></TemplafySlideForm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slideVersion":1,"isValidatorEnabled":false,"isLocked":false,"elementsMetadata":[{"type":"shape","elementConfiguration":{"binding":"{{UserProfile.Department}}","visibility":"","type":"text","disableUpdates":false}},{"type":"shape","elementConfiguration":{"binding":"{{UserProfile.DisplayName}}, {{UserProfile.JobTitle}}","visibility":"","type":"text","disableUpdates":false}},{"type":"shape","elementConfiguration":{"binding":"{{Form.Title}}","visibility":"","type":"text","disableUpdates":false}},{"type":"shape","elementConfiguration":{"binding":"{{Form.Subtitle}}","visibility":"","type":"text","disableUpdates":false}}],"slideId":"638351419723211212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3363B716-1B3F-4EF4-A645-2849D6A2A1C7}">
  <ds:schemaRefs/>
</ds:datastoreItem>
</file>

<file path=customXml/itemProps2.xml><?xml version="1.0" encoding="utf-8"?>
<ds:datastoreItem xmlns:ds="http://schemas.openxmlformats.org/officeDocument/2006/customXml" ds:itemID="{9095741A-CCDF-4B58-ADBB-E7CDCD30ED42}">
  <ds:schemaRefs/>
</ds:datastoreItem>
</file>

<file path=customXml/itemProps3.xml><?xml version="1.0" encoding="utf-8"?>
<ds:datastoreItem xmlns:ds="http://schemas.openxmlformats.org/officeDocument/2006/customXml" ds:itemID="{798BD6EC-9107-4563-AC4A-8434E9808CDB}">
  <ds:schemaRefs>
    <ds:schemaRef ds:uri="http://schemas.microsoft.com/office/2006/metadata/properties"/>
    <ds:schemaRef ds:uri="http://schemas.microsoft.com/office/infopath/2007/PartnerControls"/>
    <ds:schemaRef ds:uri="2f7262f3-19e3-4c38-834c-996e2cec5b6c"/>
    <ds:schemaRef ds:uri="6b2685c3-cb74-402e-89a3-cd359bd59e48"/>
    <ds:schemaRef ds:uri="adc81a03-33f5-430d-a427-dfbddb1fb524"/>
    <ds:schemaRef ds:uri="89addd5d-1b61-4a22-b114-f0fd8c2dcf23"/>
  </ds:schemaRefs>
</ds:datastoreItem>
</file>

<file path=customXml/itemProps4.xml><?xml version="1.0" encoding="utf-8"?>
<ds:datastoreItem xmlns:ds="http://schemas.openxmlformats.org/officeDocument/2006/customXml" ds:itemID="{30B7C04D-9D5F-4F98-B86E-9544BFD1410A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FB08C246-4216-47B9-B943-2D4F1A392C3F}">
  <ds:schemaRefs/>
</ds:datastoreItem>
</file>

<file path=customXml/itemProps6.xml><?xml version="1.0" encoding="utf-8"?>
<ds:datastoreItem xmlns:ds="http://schemas.openxmlformats.org/officeDocument/2006/customXml" ds:itemID="{944185D8-EC9F-4A5A-93F0-FC5FEC52BA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dc81a03-33f5-430d-a427-dfbddb1fb524"/>
    <ds:schemaRef ds:uri="89addd5d-1b61-4a22-b114-f0fd8c2dcf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7.xml><?xml version="1.0" encoding="utf-8"?>
<ds:datastoreItem xmlns:ds="http://schemas.openxmlformats.org/officeDocument/2006/customXml" ds:itemID="{400AE978-C982-4764-8B5A-A9725C7AA005}">
  <ds:schemaRefs/>
</ds:datastoreItem>
</file>

<file path=customXml/itemProps8.xml><?xml version="1.0" encoding="utf-8"?>
<ds:datastoreItem xmlns:ds="http://schemas.openxmlformats.org/officeDocument/2006/customXml" ds:itemID="{3CEDE958-A289-4F43-AB16-8D80F6812CD1}">
  <ds:schemaRefs/>
</ds:datastoreItem>
</file>

<file path=customXml/itemProps9.xml><?xml version="1.0" encoding="utf-8"?>
<ds:datastoreItem xmlns:ds="http://schemas.openxmlformats.org/officeDocument/2006/customXml" ds:itemID="{1E4E5DBF-1B01-4344-9330-851E2AF998F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Kantoorthema</Template>
  <TotalTime>16474</TotalTime>
  <Words>565</Words>
  <Application>Microsoft Macintosh PowerPoint</Application>
  <PresentationFormat>On-screen Show (16:9)</PresentationFormat>
  <Paragraphs>91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Kantoorthema</vt:lpstr>
      <vt:lpstr>PowerPoint Presentation</vt:lpstr>
      <vt:lpstr>Research Plan</vt:lpstr>
      <vt:lpstr>Background  (based on Digital Engineering HandBk)</vt:lpstr>
      <vt:lpstr>Background (History)</vt:lpstr>
      <vt:lpstr>Background (Problem)</vt:lpstr>
      <vt:lpstr>Background (Ontologies)</vt:lpstr>
      <vt:lpstr>Interoperability &amp; Integration Framework (IoIF)</vt:lpstr>
      <vt:lpstr>The Catapult Example</vt:lpstr>
      <vt:lpstr>Research Questions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Moosavi Lar, Sadra</dc:creator>
  <cp:lastModifiedBy>Moosavi Lar, Sadra</cp:lastModifiedBy>
  <cp:revision>27</cp:revision>
  <dcterms:created xsi:type="dcterms:W3CDTF">2025-12-18T10:00:57Z</dcterms:created>
  <dcterms:modified xsi:type="dcterms:W3CDTF">2026-02-26T18:08:09Z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0x01010033F465149FB9C5448C8CF5199B7F8DE2</vt:lpwstr>
  </property>
  <property fmtid="{D5CDD505-2E9C-101B-9397-08002B2CF9AE}" pid="3" name="MediaServiceImageTags">
    <vt:lpwstr/>
  </property>
  <property fmtid="{D5CDD505-2E9C-101B-9397-08002B2CF9AE}" pid="4" name="TemplafyTimeStamp">
    <vt:lpwstr>2023-11-09T15:52:52</vt:lpwstr>
  </property>
  <property fmtid="{D5CDD505-2E9C-101B-9397-08002B2CF9AE}" pid="5" name="TemplafyTenantId">
    <vt:lpwstr>tue</vt:lpwstr>
  </property>
  <property fmtid="{D5CDD505-2E9C-101B-9397-08002B2CF9AE}" pid="6" name="TemplafyTemplateId">
    <vt:lpwstr>773602689983971800</vt:lpwstr>
  </property>
  <property fmtid="{D5CDD505-2E9C-101B-9397-08002B2CF9AE}" pid="7" name="TemplafyUserProfileId">
    <vt:lpwstr>997763534791376972</vt:lpwstr>
  </property>
  <property fmtid="{D5CDD505-2E9C-101B-9397-08002B2CF9AE}" pid="8" name="TemplafyLanguageCode">
    <vt:lpwstr>nl-NL</vt:lpwstr>
  </property>
  <property fmtid="{D5CDD505-2E9C-101B-9397-08002B2CF9AE}" pid="9" name="TemplafyFromBlank">
    <vt:bool>false</vt:bool>
  </property>
</Properties>
</file>